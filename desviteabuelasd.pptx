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07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9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827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642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891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755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24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2223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6011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134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8110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30724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5912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4094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6124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2490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5266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843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262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1335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486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9669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005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537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2278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593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10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91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0"/>
            <a:ext cx="5042647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83976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Modelado de Sistemas Reactivos y Diagramas de Estado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856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enfoque crítico para la especificación del comportamiento de sistemas que interactúan con bases de datos, basado en el formalismo de Statecharts de David Harel.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621030"/>
            <a:ext cx="7605951" cy="1442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Semántica del Estado y Determinismo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6255424" y="2503170"/>
            <a:ext cx="7605951" cy="2506742"/>
          </a:xfrm>
          <a:prstGeom prst="roundRect">
            <a:avLst>
              <a:gd name="adj" fmla="val 368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Shape 2"/>
          <p:cNvSpPr/>
          <p:nvPr/>
        </p:nvSpPr>
        <p:spPr>
          <a:xfrm>
            <a:off x="6482715" y="2609612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3928" y="2790825"/>
            <a:ext cx="296585" cy="296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2715" y="3481507"/>
            <a:ext cx="2884051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Definición de Estado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6482715" y="3969544"/>
            <a:ext cx="715137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Abstracción que encapsula valores de atributos y relaciones, reflejando integridad de datos en un instante específico.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55425" y="5101828"/>
            <a:ext cx="7605951" cy="2506742"/>
          </a:xfrm>
          <a:prstGeom prst="roundRect">
            <a:avLst>
              <a:gd name="adj" fmla="val 368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0" name="Shape 6"/>
          <p:cNvSpPr/>
          <p:nvPr/>
        </p:nvSpPr>
        <p:spPr>
          <a:xfrm>
            <a:off x="6482715" y="5329118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3928" y="5510332"/>
            <a:ext cx="296585" cy="2965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2715" y="6201013"/>
            <a:ext cx="3234571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Invariantes de Protocolo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6482715" y="6689050"/>
            <a:ext cx="715137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Condiciones lógicas que deben permanecer verdaderas. Su incumplimiento indica problemas en la lógica de control.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68937"/>
            <a:ext cx="74378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Transiciones Entre Estados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280172"/>
            <a:ext cx="300037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Transiciones Internas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879056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Ejecuciones dentro del estado actual que no provocan cambio en la configuración. Por ejemplo, validación de datos que asegura coherencia sin alterar el estado del sistema.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2801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Autotransiciones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856321" y="3879056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donde el sistema sale del estado y vuelve a entrar. Esencial en patrones de recuperación de errores para re-ejecutar lógica crítica.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4884"/>
            <a:ext cx="114026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Encapsulamiento mediante Submáquinas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72772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306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Descomposición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0604" y="381500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Máquinas complejas en componentes manejables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72772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3068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Reutilización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542014" y="381500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compartida entre diferentes contextos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04717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5387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Legibilidad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020604" y="604694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comprensión del modelo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404717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5387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Mantenimiento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542014" y="604694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actualizaciones y modificaciones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8918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bases de datos: submáquinas para manejar confirmaciones, abortos y errores de forma modular.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37342"/>
            <a:ext cx="8398788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Ontología y Despacho de Eventos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44260" y="1733669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Evento es la instanciación de un acontecimiento que dispara una respuesta del sistema. Crucial para desencadenar operaciones en bases de datos.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616994"/>
            <a:ext cx="6471285" cy="2552700"/>
          </a:xfrm>
          <a:prstGeom prst="roundRect">
            <a:avLst>
              <a:gd name="adj" fmla="val 34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767120" y="2639854"/>
            <a:ext cx="6425565" cy="637937"/>
          </a:xfrm>
          <a:prstGeom prst="roundRect">
            <a:avLst>
              <a:gd name="adj" fmla="val 970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4"/>
          <p:cNvSpPr/>
          <p:nvPr/>
        </p:nvSpPr>
        <p:spPr>
          <a:xfrm>
            <a:off x="3820358" y="275570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79765" y="347710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SignalEvent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79765" y="3945493"/>
            <a:ext cx="600027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Señales asíncronas que requieren gestión de colas. Manejan actualizaciones sin bloquear acceso a la base de datos.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14855" y="2616994"/>
            <a:ext cx="6471285" cy="2552700"/>
          </a:xfrm>
          <a:prstGeom prst="roundRect">
            <a:avLst>
              <a:gd name="adj" fmla="val 34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0" name="Shape 8"/>
          <p:cNvSpPr/>
          <p:nvPr/>
        </p:nvSpPr>
        <p:spPr>
          <a:xfrm>
            <a:off x="7437715" y="2639854"/>
            <a:ext cx="6425565" cy="637937"/>
          </a:xfrm>
          <a:prstGeom prst="roundRect">
            <a:avLst>
              <a:gd name="adj" fmla="val 970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1" name="Text 9"/>
          <p:cNvSpPr/>
          <p:nvPr/>
        </p:nvSpPr>
        <p:spPr>
          <a:xfrm>
            <a:off x="10490954" y="275570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650361" y="347710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CallEvent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650361" y="3945493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sincrónicas que exigen permiso del estado actual. Consultas a base de datos solo si permite lecturas.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44260" y="5369004"/>
            <a:ext cx="6471285" cy="2223135"/>
          </a:xfrm>
          <a:prstGeom prst="roundRect">
            <a:avLst>
              <a:gd name="adj" fmla="val 401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Shape 13"/>
          <p:cNvSpPr/>
          <p:nvPr/>
        </p:nvSpPr>
        <p:spPr>
          <a:xfrm>
            <a:off x="767120" y="5391864"/>
            <a:ext cx="6425565" cy="637937"/>
          </a:xfrm>
          <a:prstGeom prst="roundRect">
            <a:avLst>
              <a:gd name="adj" fmla="val 970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6" name="Text 14"/>
          <p:cNvSpPr/>
          <p:nvPr/>
        </p:nvSpPr>
        <p:spPr>
          <a:xfrm>
            <a:off x="3820358" y="550771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79765" y="622911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TimeEvent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979765" y="6697504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Disparadores temporales para operaciones programadas: mantenimientos o informes automáticos.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14855" y="5369004"/>
            <a:ext cx="6471285" cy="2223135"/>
          </a:xfrm>
          <a:prstGeom prst="roundRect">
            <a:avLst>
              <a:gd name="adj" fmla="val 401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Shape 18"/>
          <p:cNvSpPr/>
          <p:nvPr/>
        </p:nvSpPr>
        <p:spPr>
          <a:xfrm>
            <a:off x="7437715" y="5391864"/>
            <a:ext cx="6425565" cy="637937"/>
          </a:xfrm>
          <a:prstGeom prst="roundRect">
            <a:avLst>
              <a:gd name="adj" fmla="val 970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1" name="Text 19"/>
          <p:cNvSpPr/>
          <p:nvPr/>
        </p:nvSpPr>
        <p:spPr>
          <a:xfrm>
            <a:off x="10490954" y="550771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650361" y="622911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ChangeEvent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650361" y="6697504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Activados cuando condición booleana transita de falso a verdadero. Detectan cambios en datos en tiempo real.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1521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1362" y="596027"/>
            <a:ext cx="7299960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Micro-pasos y Ciclo de Ejecución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131362" y="1425178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31362" y="1715333"/>
            <a:ext cx="7854077" cy="2286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6131362" y="1853089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131362" y="2245281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Despachador identifica transición cuya condición de guardia se evalúa como verdadera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31362" y="2800231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31362" y="3090386"/>
            <a:ext cx="7854077" cy="2286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6131362" y="3228142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Desactivación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31362" y="3620333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 acciones de salida, liberando recursos conectados a la base de datos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131362" y="4175284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1362" y="4465439"/>
            <a:ext cx="7854077" cy="2286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4" name="Text 11"/>
          <p:cNvSpPr/>
          <p:nvPr/>
        </p:nvSpPr>
        <p:spPr>
          <a:xfrm>
            <a:off x="6131362" y="4603194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Efecto de Transición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131362" y="4995386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 comportamiento asociado: actualización de registros en base de datos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131362" y="5550337"/>
            <a:ext cx="36849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31362" y="5840492"/>
            <a:ext cx="7854077" cy="2286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8" name="Text 15"/>
          <p:cNvSpPr/>
          <p:nvPr/>
        </p:nvSpPr>
        <p:spPr>
          <a:xfrm>
            <a:off x="6131362" y="5978247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Activación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131362" y="6370439"/>
            <a:ext cx="785407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 acciones de entrada al nuevo estado: inserción de nuevos registros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131362" y="6944082"/>
            <a:ext cx="7854077" cy="689491"/>
          </a:xfrm>
          <a:prstGeom prst="roundRect">
            <a:avLst>
              <a:gd name="adj" fmla="val 1122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551" y="7211139"/>
            <a:ext cx="230267" cy="18419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30008" y="7139702"/>
            <a:ext cx="7071241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 Inner-First: transiciones más cercanas en jerarquía se priorizan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27284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Orquestación: Acciones y Actividades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116836" y="2955965"/>
            <a:ext cx="3828217" cy="4146232"/>
          </a:xfrm>
          <a:prstGeom prst="roundRect">
            <a:avLst>
              <a:gd name="adj" fmla="val 4266"/>
            </a:avLst>
          </a:prstGeom>
          <a:solidFill>
            <a:srgbClr val="007EBD">
              <a:alpha val="95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Text 2"/>
          <p:cNvSpPr/>
          <p:nvPr/>
        </p:nvSpPr>
        <p:spPr>
          <a:xfrm>
            <a:off x="6343650" y="31827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Acciones (Atómicas)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343650" y="3781663"/>
            <a:ext cx="337458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Comportamientos que se ejecutan instantáneamente y bloquean procesamiento de nuevos eventos durante su ejecución.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43650" y="5800249"/>
            <a:ext cx="3374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Operaciones críticas de inserción de datos en bases de datos.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182779"/>
            <a:ext cx="350150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Actividades (Do-Behaviors)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342721" y="415373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Comportamientos que se ejecutan simultáneamente mientras se mantiene presencia en un estado. Interrumpibles.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580941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Gestión de múltiples consultas en paralelo en una base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331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Concurrencia y Regiones Ortogonales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266199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permite modelar sistemas multihilo mediante Estados Compuestos con Regiones Ortogonales. Vital para múltiples operaciones de base de datos concurrentes.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005858"/>
            <a:ext cx="7556421" cy="3390424"/>
          </a:xfrm>
          <a:prstGeom prst="roundRect">
            <a:avLst>
              <a:gd name="adj" fmla="val 281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" name="Shape 3"/>
          <p:cNvSpPr/>
          <p:nvPr/>
        </p:nvSpPr>
        <p:spPr>
          <a:xfrm>
            <a:off x="801410" y="4013478"/>
            <a:ext cx="7541181" cy="1687592"/>
          </a:xfrm>
          <a:prstGeom prst="roundRect">
            <a:avLst>
              <a:gd name="adj" fmla="val 5645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7" name="Text 4"/>
          <p:cNvSpPr/>
          <p:nvPr/>
        </p:nvSpPr>
        <p:spPr>
          <a:xfrm>
            <a:off x="1028224" y="424029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Fork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28224" y="474845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el flujo de control en múltiples regiones, permitiendo ejecución simultánea de operaciones de base de datos.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5701070"/>
            <a:ext cx="7541181" cy="1687592"/>
          </a:xfrm>
          <a:prstGeom prst="rect">
            <a:avLst/>
          </a:prstGeom>
          <a:solidFill>
            <a:srgbClr val="CCEEF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801410" y="570107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1" name="Text 8"/>
          <p:cNvSpPr/>
          <p:nvPr/>
        </p:nvSpPr>
        <p:spPr>
          <a:xfrm>
            <a:off x="1028224" y="59278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Join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8224" y="643604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 el flujo de salida de regiones activas, completando operación solo cuando todas suboperaciones finalizan con éxito.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494"/>
            <a:ext cx="1133177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Pseudoestados y Persistencia de Contexto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433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Nodos de control que dirigen flujo de ejecución pero no representan estados residuales. Importantes en manejo de datos.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861435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861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Shallow History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44253" y="4369594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 subestado activo del nivel jerárquico inmediato. Útil para restaurar operaciones de base de datos interrumpidas.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861435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3861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Deep History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086356" y="4369594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 configuración completa de estados. Esencial en recuperación de estados tras fallos.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861435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3861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Choice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0528459" y="4369594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Evalúa condiciones en tiempo de ejecución para determinar camino de salida. Decisiones basadas en estado actual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635" y="41017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721400"/>
            <a:ext cx="7804309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Consideraciones Críticas de Ingeniería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69846" y="2219682"/>
            <a:ext cx="7804309" cy="1403509"/>
          </a:xfrm>
          <a:prstGeom prst="roundRect">
            <a:avLst>
              <a:gd name="adj" fmla="val 78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Shape 2"/>
          <p:cNvSpPr/>
          <p:nvPr/>
        </p:nvSpPr>
        <p:spPr>
          <a:xfrm>
            <a:off x="646986" y="2219682"/>
            <a:ext cx="91440" cy="1403509"/>
          </a:xfrm>
          <a:prstGeom prst="roundRect">
            <a:avLst>
              <a:gd name="adj" fmla="val 8790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952619" y="2433876"/>
            <a:ext cx="351746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Semántica Run-to-Completion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52619" y="2844641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Procesar evento completamente antes de aceptar siguiente. Asegura coherencia en manejo de datos críticos.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9846" y="3784640"/>
            <a:ext cx="7804309" cy="1121331"/>
          </a:xfrm>
          <a:prstGeom prst="roundRect">
            <a:avLst>
              <a:gd name="adj" fmla="val 978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646986" y="3784640"/>
            <a:ext cx="91440" cy="1121331"/>
          </a:xfrm>
          <a:prstGeom prst="roundRect">
            <a:avLst>
              <a:gd name="adj" fmla="val 8790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952619" y="3998833"/>
            <a:ext cx="251186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Eventos Diferidos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52619" y="4409599"/>
            <a:ext cx="730734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colas de eventos que no deben procesarse hasta estado adecuado.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9846" y="5067419"/>
            <a:ext cx="7804309" cy="1403509"/>
          </a:xfrm>
          <a:prstGeom prst="roundRect">
            <a:avLst>
              <a:gd name="adj" fmla="val 78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3" name="Shape 10"/>
          <p:cNvSpPr/>
          <p:nvPr/>
        </p:nvSpPr>
        <p:spPr>
          <a:xfrm>
            <a:off x="646986" y="5067419"/>
            <a:ext cx="91440" cy="1403509"/>
          </a:xfrm>
          <a:prstGeom prst="roundRect">
            <a:avLst>
              <a:gd name="adj" fmla="val 8790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4" name="Text 11"/>
          <p:cNvSpPr/>
          <p:nvPr/>
        </p:nvSpPr>
        <p:spPr>
          <a:xfrm>
            <a:off x="952619" y="5281613"/>
            <a:ext cx="2511862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Determinismo Lógico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52619" y="5692378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Evitar guardias solapadas en transiciones con mismo disparador. Comportamiento predecible y verificable.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9846" y="6700242"/>
            <a:ext cx="7804309" cy="1428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Text 14"/>
          <p:cNvSpPr/>
          <p:nvPr/>
        </p:nvSpPr>
        <p:spPr>
          <a:xfrm>
            <a:off x="669846" y="6943844"/>
            <a:ext cx="780430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modelado mediante diagramas de estado es un enfoque robusto y estructurado para garantizar fiabilidad y coherencia en la manipulación de datos.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661</Words>
  <Application>Microsoft Office PowerPoint</Application>
  <PresentationFormat>Personalizado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Petrona Bold</vt:lpstr>
      <vt:lpstr>Arial</vt:lpstr>
      <vt:lpstr>Inter</vt:lpstr>
      <vt:lpstr>Trebuchet MS</vt:lpstr>
      <vt:lpstr>Petrona Light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Naun</dc:creator>
  <cp:lastModifiedBy>Naun Caballero</cp:lastModifiedBy>
  <cp:revision>3</cp:revision>
  <dcterms:created xsi:type="dcterms:W3CDTF">2026-04-26T22:59:18Z</dcterms:created>
  <dcterms:modified xsi:type="dcterms:W3CDTF">2026-04-27T19:42:53Z</dcterms:modified>
</cp:coreProperties>
</file>