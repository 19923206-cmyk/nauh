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07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769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046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046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5416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9236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5594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457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74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104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9047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08423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741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59269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8810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7843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81604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2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5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1A467-EFF4-DE2A-69CD-8555C2512E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PRINCIPIOS DE</a:t>
            </a:r>
            <a:br>
              <a:rPr lang="es-ES" dirty="0"/>
            </a:br>
            <a:r>
              <a:rPr lang="es-ES" dirty="0"/>
              <a:t>UI/UX  </a:t>
            </a:r>
            <a:endParaRPr lang="es-SV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8849B-0BF1-5FEC-CFDC-B0EE869C27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s-ES" dirty="0">
                <a:solidFill>
                  <a:srgbClr val="7030A0"/>
                </a:solidFill>
              </a:rPr>
              <a:t>Alumno:</a:t>
            </a:r>
            <a:r>
              <a:rPr lang="es-ES" dirty="0"/>
              <a:t> </a:t>
            </a:r>
            <a:r>
              <a:rPr lang="es-ES" dirty="0">
                <a:solidFill>
                  <a:srgbClr val="FF0000"/>
                </a:solidFill>
              </a:rPr>
              <a:t>Naun Emanuel Caballero Peraza</a:t>
            </a:r>
          </a:p>
          <a:p>
            <a:pPr algn="l"/>
            <a:r>
              <a:rPr lang="es-SV" dirty="0">
                <a:solidFill>
                  <a:srgbClr val="7030A0"/>
                </a:solidFill>
              </a:rPr>
              <a:t>Docente:</a:t>
            </a:r>
            <a:r>
              <a:rPr lang="es-SV" dirty="0">
                <a:solidFill>
                  <a:srgbClr val="C00000"/>
                </a:solidFill>
              </a:rPr>
              <a:t>juan francisco </a:t>
            </a:r>
          </a:p>
        </p:txBody>
      </p:sp>
    </p:spTree>
    <p:extLst>
      <p:ext uri="{BB962C8B-B14F-4D97-AF65-F5344CB8AC3E}">
        <p14:creationId xmlns:p14="http://schemas.microsoft.com/office/powerpoint/2010/main" val="359392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94A3B8"/>
                </a:solidFill>
                <a:latin typeface="Aptos" pitchFamily="34" charset="0"/>
              </a:rPr>
              <a:t>Naun  Emanuel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4200" b="1" dirty="0">
                <a:solidFill>
                  <a:srgbClr val="FF0000"/>
                </a:solidFill>
              </a:rPr>
              <a:t>PRINCIPIOS DE</a:t>
            </a:r>
            <a:endParaRPr lang="en-US" sz="4200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US" sz="4200" b="1" dirty="0">
                <a:solidFill>
                  <a:srgbClr val="FF0000"/>
                </a:solidFill>
              </a:rPr>
              <a:t>UI / UX</a:t>
            </a:r>
            <a:endParaRPr lang="en-US" sz="4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27432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dirty="0">
                <a:solidFill>
                  <a:srgbClr val="CBD5E1"/>
                </a:solidFill>
              </a:rPr>
              <a:t>Guía técnica para programadores: </a:t>
            </a:r>
            <a:r>
              <a:rPr lang="en-US" sz="1500" dirty="0">
                <a:solidFill>
                  <a:srgbClr val="FFFF00"/>
                </a:solidFill>
              </a:rPr>
              <a:t>diseño de interfaces, experiencia de usuario y buenas prácticas en código</a:t>
            </a:r>
            <a:r>
              <a:rPr lang="en-US" sz="1500" dirty="0">
                <a:solidFill>
                  <a:srgbClr val="CBD5E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" y="3664458"/>
            <a:ext cx="1600200" cy="356616"/>
          </a:xfrm>
          <a:prstGeom prst="roundRect">
            <a:avLst>
              <a:gd name="adj" fmla="val 23529"/>
            </a:avLst>
          </a:prstGeom>
          <a:solidFill>
            <a:srgbClr val="3B82F6">
              <a:alpha val="14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745236" y="3771900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CBD5E1"/>
                </a:solidFill>
              </a:rPr>
              <a:t>Diseño de interfaces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59152" y="37033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2468880" y="3771900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CBD5E1"/>
                </a:solidFill>
              </a:rPr>
              <a:t>Experiencia de usuario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7033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4453128" y="377190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CBD5E1"/>
                </a:solidFill>
              </a:rPr>
              <a:t>Buenas prácticas</a:t>
            </a:r>
            <a:endParaRPr lang="en-US" sz="1200" dirty="0"/>
          </a:p>
        </p:txBody>
      </p:sp>
      <p:pic>
        <p:nvPicPr>
          <p:cNvPr id="12" name="Image 0" descr="/mnt/data/dashboard_ui.png"/>
          <p:cNvPicPr>
            <a:picLocks noChangeAspect="1"/>
          </p:cNvPicPr>
          <p:nvPr/>
        </p:nvPicPr>
        <p:blipFill>
          <a:blip r:embed="rId3"/>
          <a:srcRect l="10731" r="10731"/>
          <a:stretch/>
        </p:blipFill>
        <p:spPr>
          <a:xfrm>
            <a:off x="6400800" y="914400"/>
            <a:ext cx="5074920" cy="4846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17920" y="749808"/>
            <a:ext cx="5440680" cy="5166360"/>
          </a:xfrm>
          <a:prstGeom prst="roundRect">
            <a:avLst>
              <a:gd name="adj" fmla="val 2124"/>
            </a:avLst>
          </a:prstGeom>
          <a:solidFill>
            <a:srgbClr val="000000">
              <a:alpha val="0"/>
            </a:srgbClr>
          </a:solidFill>
          <a:ln w="1524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1"/>
          <p:cNvSpPr/>
          <p:nvPr/>
        </p:nvSpPr>
        <p:spPr>
          <a:xfrm>
            <a:off x="6446520" y="60807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Dark mode cómodo: contraste alto, colores suaves y menos fatiga visual.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¿Por qué UI/UX importa al programar?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No basta con que el código funcione: debe producir una experiencia clara, accesible y eficiente.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51663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400" dirty="0">
                <a:solidFill>
                  <a:srgbClr val="C00000"/>
                </a:solidFill>
              </a:rPr>
              <a:t>Una app intuitiva reduce errores y dudas del usuario.</a:t>
            </a:r>
          </a:p>
          <a:p>
            <a:pPr>
              <a:defRPr/>
            </a:pPr>
            <a:r>
              <a:rPr lang="en-US" sz="1400" dirty="0">
                <a:solidFill>
                  <a:srgbClr val="C00000"/>
                </a:solidFill>
              </a:rPr>
              <a:t>El diseño consistente facilita mantenimiento y escalabilidad.</a:t>
            </a:r>
          </a:p>
          <a:p>
            <a:pPr>
              <a:defRPr/>
            </a:pPr>
            <a:r>
              <a:rPr lang="en-US" sz="1400" dirty="0">
                <a:solidFill>
                  <a:srgbClr val="C00000"/>
                </a:solidFill>
              </a:rPr>
              <a:t>El rendimiento, la accesibilidad y el feedback son parte de la experiencia.</a:t>
            </a:r>
          </a:p>
          <a:p>
            <a:pPr>
              <a:defRPr/>
            </a:pPr>
            <a:r>
              <a:rPr lang="en-US" sz="1400" dirty="0">
                <a:solidFill>
                  <a:srgbClr val="C00000"/>
                </a:solidFill>
              </a:rPr>
              <a:t>Un programador con bases de UI/UX crea productos más útiles y profesionales.</a:t>
            </a:r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4937760" cy="4343400"/>
          </a:xfrm>
          <a:prstGeom prst="roundRect">
            <a:avLst>
              <a:gd name="adj" fmla="val 1684"/>
            </a:avLst>
          </a:prstGeom>
          <a:solidFill>
            <a:srgbClr val="101827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 dirty="0">
                <a:solidFill>
                  <a:srgbClr val="E5E7EB"/>
                </a:solidFill>
              </a:rPr>
              <a:t>Flujo de calidad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20840" y="251460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6793992" y="267919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Código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93992" y="30632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Funciona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90688" y="251460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7863840" y="267919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Interfaz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30632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Se entiende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0536" y="251460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3283B"/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8933688" y="267919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UX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30632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Se disfruta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30384" y="251460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3283B"/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003536" y="267919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Producto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03536" y="30632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Se recomienda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4160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CBD5E1"/>
                </a:solidFill>
              </a:rPr>
              <a:t>Meta técnica: convertir requisitos en interfaces claras, predecibles y rápidas.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846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 dirty="0">
                <a:solidFill>
                  <a:srgbClr val="94A3B8"/>
                </a:solidFill>
              </a:rPr>
              <a:t>“Funciona” no es el final: es el inicio de una buena experiencia.</a:t>
            </a:r>
            <a:endParaRPr lang="en-US" sz="1200" dirty="0"/>
          </a:p>
        </p:txBody>
      </p:sp>
      <p:pic>
        <p:nvPicPr>
          <p:cNvPr id="23" name="Picture 22" descr="img_ejemplo_uiux_gen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713232"/>
            <a:ext cx="1965960" cy="1133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HEURÍSTICAS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Los 10 principios heurísticos de Nielsen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Reglas prácticas para detectar problemas comunes de usabilidad antes de entregar una interfaz.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>
          <a:xfrm>
            <a:off x="813816" y="1719072"/>
            <a:ext cx="329184" cy="32918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59536" y="180136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16152" y="17282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Visibilidad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6152" y="203911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Loaders, barras de progreso y estados.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45936" y="1719072"/>
            <a:ext cx="329184" cy="329184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91656" y="180136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48272" y="17282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Mundo real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48272" y="203911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Lenguaje familiar, no jerga técnica.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46888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13816" y="2587752"/>
            <a:ext cx="329184" cy="329184"/>
          </a:xfrm>
          <a:prstGeom prst="ellipse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9536" y="267004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16152" y="2596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16152" y="290779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Cancelar, deshacer y confirmar acciones.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46888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345936" y="2587752"/>
            <a:ext cx="329184" cy="32918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6391656" y="267004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48272" y="2596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Consistencia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48272" y="290779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Mismos colores, fuentes y patrones.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33756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3816" y="3456432"/>
            <a:ext cx="329184" cy="329184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859536" y="353872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16152" y="34655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Prevención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16152" y="377647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Validación y botones deshabilitados.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33756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345936" y="3456432"/>
            <a:ext cx="329184" cy="329184"/>
          </a:xfrm>
          <a:prstGeom prst="ellipse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Text 31"/>
          <p:cNvSpPr/>
          <p:nvPr/>
        </p:nvSpPr>
        <p:spPr>
          <a:xfrm>
            <a:off x="6391656" y="353872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48272" y="34655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Reconocimiento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48272" y="377647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Opciones visibles, hints y autocompletado.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420624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13816" y="4325112"/>
            <a:ext cx="329184" cy="32918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859536" y="440740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16152" y="43342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Eficiencia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16152" y="464515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Atajos y personalización.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420624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345936" y="4325112"/>
            <a:ext cx="329184" cy="329184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" name="Text 41"/>
          <p:cNvSpPr/>
          <p:nvPr/>
        </p:nvSpPr>
        <p:spPr>
          <a:xfrm>
            <a:off x="6391656" y="440740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48272" y="43342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Minimalismo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48272" y="464515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Solo información relevante.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5800" y="507492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13816" y="5193792"/>
            <a:ext cx="329184" cy="329184"/>
          </a:xfrm>
          <a:prstGeom prst="ellipse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" name="Text 46"/>
          <p:cNvSpPr/>
          <p:nvPr/>
        </p:nvSpPr>
        <p:spPr>
          <a:xfrm>
            <a:off x="859536" y="527608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16152" y="52029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Errores claros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16152" y="551383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Mensajes humanos y solución.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217920" y="507492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" name="Shape 50"/>
          <p:cNvSpPr/>
          <p:nvPr/>
        </p:nvSpPr>
        <p:spPr>
          <a:xfrm>
            <a:off x="6345936" y="5193792"/>
            <a:ext cx="329184" cy="32918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" name="Text 51"/>
          <p:cNvSpPr/>
          <p:nvPr/>
        </p:nvSpPr>
        <p:spPr>
          <a:xfrm>
            <a:off x="6391656" y="527608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48272" y="52029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Ayuda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48272" y="551383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Tooltips, onboarding y documentación.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VISUAL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Jerarquía visual, tipografía y color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La interfaz guía la atención del usuario mediante tamaño, peso, contraste y espaciado.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Escala tipográfica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4420" y="2386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rgbClr val="FFFF00"/>
                </a:solidFill>
              </a:rPr>
              <a:t>Display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898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FFFF00"/>
                </a:solidFill>
              </a:rPr>
              <a:t>Título</a:t>
            </a:r>
            <a:endParaRPr lang="en-US" sz="2200" dirty="0">
              <a:solidFill>
                <a:srgbClr val="FFFF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3465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800" b="1" dirty="0">
                <a:solidFill>
                  <a:srgbClr val="FFFF00"/>
                </a:solidFill>
              </a:rPr>
              <a:t>Sección</a:t>
            </a:r>
            <a:endParaRPr lang="en-US" sz="1800" dirty="0">
              <a:solidFill>
                <a:srgbClr val="FFFF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4032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FFF00"/>
                </a:solidFill>
              </a:rPr>
              <a:t>Cuerpo</a:t>
            </a:r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FFFF00"/>
                </a:solidFill>
              </a:rPr>
              <a:t>Etiqueta</a:t>
            </a:r>
          </a:p>
        </p:txBody>
      </p:sp>
      <p:sp>
        <p:nvSpPr>
          <p:cNvPr id="13" name="Shape 11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Tokens de color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5349240" y="23500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Primary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5349240" y="28072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Info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49240" y="3264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Success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7033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5349240" y="37216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Warning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41605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5349240" y="4178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Error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6177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5349240" y="46360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Text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92440" y="160020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836676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Espaciado y grid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58200" y="239572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281160" y="239572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172033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104120" y="239572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458200" y="3054096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172033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281160" y="3054096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0104120" y="3054096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172033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458200" y="3712464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281160" y="3712464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172033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0104120" y="3712464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8366760" y="4434840"/>
            <a:ext cx="26517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Base de 4px u 8px.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CSS Grid / Flexbox.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Layout responsivo.</a:t>
            </a:r>
            <a:endParaRPr lang="en-US" sz="1200" dirty="0"/>
          </a:p>
        </p:txBody>
      </p:sp>
      <p:pic>
        <p:nvPicPr>
          <p:cNvPr id="39" name="Picture 38" descr="img_ejemplo_uiux_gen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731520"/>
            <a:ext cx="1828800" cy="1051560"/>
          </a:xfrm>
          <a:prstGeom prst="rect">
            <a:avLst/>
          </a:prstGeom>
        </p:spPr>
      </p:pic>
      <p:sp>
        <p:nvSpPr>
          <p:cNvPr id="40" name="Info extra 40"/>
          <p:cNvSpPr/>
          <p:nvPr/>
        </p:nvSpPr>
        <p:spPr>
          <a:xfrm>
            <a:off x="685800" y="6100000"/>
            <a:ext cx="10500000" cy="62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Aplicación práctica en una interfaz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Usa 2 o 3 tamaños principales para que el usuario entienda qué leer primero.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Mantén colores de estado constantes: éxito, advertencia, error e información.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El espaciado repetido crea orden visual y evita que la pantalla se vea improvisada.</a:t>
            </a:r>
            <a:endParaRPr lang="es-SV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Atomic Design aplicado a código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Dividir la interfaz en piezas reutilizables mejora orden, escalabilidad y consistencia.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22D3EE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Átomo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Button, Input, Icon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87168" y="2404872"/>
            <a:ext cx="329184" cy="32918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297180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3B82F6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306324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Molécula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1810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SearchInput, Field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36008" y="2404872"/>
            <a:ext cx="329184" cy="32918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12064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A78BFA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521208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Organismo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694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Navbar, UserList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84848" y="2404872"/>
            <a:ext cx="329184" cy="32918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26948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6092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Plantilla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1578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Layout de página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33688" y="2404872"/>
            <a:ext cx="329184" cy="32918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1832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F59E0B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950976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Página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6462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Vista final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388620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1143000" y="4160520"/>
            <a:ext cx="43891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FFFF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Button = ({ variant, children }) =&gt; (</a:t>
            </a:r>
            <a:endParaRPr lang="en-US" sz="1200" dirty="0">
              <a:solidFill>
                <a:srgbClr val="FFFF00"/>
              </a:solidFill>
            </a:endParaRPr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FFFF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&lt;button className={`btn btn--${variant}`}&gt;</a:t>
            </a:r>
            <a:endParaRPr lang="en-US" sz="1200" dirty="0">
              <a:solidFill>
                <a:srgbClr val="FFFF00"/>
              </a:solidFill>
            </a:endParaRPr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FFFF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{children}</a:t>
            </a:r>
            <a:endParaRPr lang="en-US" sz="1200" dirty="0">
              <a:solidFill>
                <a:srgbClr val="FFFF00"/>
              </a:solidFill>
            </a:endParaRPr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FFFF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&lt;/button&gt;</a:t>
            </a:r>
            <a:endParaRPr lang="en-US" sz="1200" dirty="0">
              <a:solidFill>
                <a:srgbClr val="FFFF00"/>
              </a:solidFill>
            </a:endParaRPr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FFFF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09360" y="388620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6629400" y="4251960"/>
            <a:ext cx="40233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Componentes aceptan props de configuración.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Evita estilos repetidos o valores “quemados”.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Permite reemplazar piezas sin romper toda la app.</a:t>
            </a:r>
            <a:endParaRPr lang="en-US" sz="1200" dirty="0"/>
          </a:p>
        </p:txBody>
      </p:sp>
      <p:sp>
        <p:nvSpPr>
          <p:cNvPr id="29" name="Info extra 29"/>
          <p:cNvSpPr/>
          <p:nvPr/>
        </p:nvSpPr>
        <p:spPr>
          <a:xfrm>
            <a:off x="6400000" y="5250000"/>
            <a:ext cx="5000000" cy="85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Consejo para programadores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Crea componentes pequeños antes de construir pantallas completas.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Define variantes como primary, secondary, danger y disabled para evitar duplicar código.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Un buen componente debe funcionar con diferentes datos sin tener que reescribirlo.</a:t>
            </a:r>
            <a:endParaRPr lang="es-SV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DE UI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Toda interfaz debe manejar 4 estados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Cargando, error, vacío y con datos: ignorarlos causa pantallas confusas y mala experiencia.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0160">
            <a:solidFill>
              <a:srgbClr val="3B82F6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" y="2029968"/>
            <a:ext cx="502920" cy="502920"/>
          </a:xfrm>
          <a:prstGeom prst="ellipse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Cargando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450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Skeletons, spinners o barras de progreso.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73736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0160">
            <a:solidFill>
              <a:srgbClr val="EF4444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83680" y="2029968"/>
            <a:ext cx="502920" cy="502920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Error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2450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Mensaje claro + botón Reintentar.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5840" y="3995928"/>
            <a:ext cx="502920" cy="50292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1691640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Vacío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416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Explicar qué hacer para empezar.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703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0160">
            <a:solidFill>
              <a:srgbClr val="22C55E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0" y="3995928"/>
            <a:ext cx="502920" cy="502920"/>
          </a:xfrm>
          <a:prstGeom prst="ellipse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69480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Con datos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69480" y="4416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Contenido ordenado, filtrable y legible.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989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Patrón clave en código: si loading → Skeleton; si error → ErrorState; si data vacía → EmptyState; si hay datos → render normal.</a:t>
            </a:r>
            <a:endParaRPr lang="en-US" sz="1200" dirty="0"/>
          </a:p>
        </p:txBody>
      </p:sp>
      <p:pic>
        <p:nvPicPr>
          <p:cNvPr id="23" name="Picture 22" descr="img_ejemplo_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5138928"/>
            <a:ext cx="2377440" cy="1005840"/>
          </a:xfrm>
          <a:prstGeom prst="rect">
            <a:avLst/>
          </a:prstGeom>
        </p:spPr>
      </p:pic>
      <p:sp>
        <p:nvSpPr>
          <p:cNvPr id="24" name="Info extra 24"/>
          <p:cNvSpPr/>
          <p:nvPr/>
        </p:nvSpPr>
        <p:spPr>
          <a:xfrm>
            <a:off x="960120" y="5400000"/>
            <a:ext cx="10058400" cy="50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Por qué estos estados importan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El usuario nunca debe quedarse mirando una pantalla sin saber qué ocurrió.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Cada estado debe indicar una acción clara: esperar, corregir, reintentar o continuar.</a:t>
            </a:r>
            <a:endParaRPr lang="es-SV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MICROINTERACCIONES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Feedback visual: pequeñas señales, gran claridad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Las microinteracciones comunican que una acción fue recibida y evitan incertidumbre.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Botón completo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8992" y="246888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635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1234440" y="257860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Normal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306324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6350">
            <a:solidFill>
              <a:srgbClr val="22D3EE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1234440" y="31729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Hover: sombra + elevación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8992" y="365760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34440" y="376732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Focus: outline visible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8992" y="425196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334155">
              <a:alpha val="50000"/>
            </a:srgbClr>
          </a:solidFill>
          <a:ln w="635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34440" y="436168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Disabled: opacidad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64592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101827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Skeleton loader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251460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475569">
              <a:alpha val="75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937760" y="3081528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334155">
              <a:alpha val="75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3648456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475569">
              <a:alpha val="75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937760" y="4215384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334155">
              <a:alpha val="75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955280" y="164592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8275320" y="2057400"/>
            <a:ext cx="278892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Transiciones cortas: 150–250 ms.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No animar todo: solo lo que aporta significado.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Mantener foco visible para teclado.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Mostrar éxito, error y progreso con claridad.</a:t>
            </a:r>
            <a:endParaRPr lang="en-US" sz="1250" dirty="0"/>
          </a:p>
        </p:txBody>
      </p:sp>
      <p:sp>
        <p:nvSpPr>
          <p:cNvPr id="24" name="Info extra 24"/>
          <p:cNvSpPr/>
          <p:nvPr/>
        </p:nvSpPr>
        <p:spPr>
          <a:xfrm>
            <a:off x="800000" y="6200000"/>
            <a:ext cx="10500000" cy="48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Regla de diseño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Las animaciones deben ser rápidas, suaves y útiles; si distraen, no mejoran la UX.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El feedback visual confirma clics, cargas, errores y acciones completadas.</a:t>
            </a:r>
            <a:endParaRPr lang="es-SV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Accesibilidad web: usable para todos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La accesibilidad mejora la calidad de la interfaz y reduce barreras para teclado, lectores de pantalla y móviles.</a:t>
            </a:r>
            <a:endParaRPr lang="en-US" sz="1200" dirty="0"/>
          </a:p>
        </p:txBody>
      </p:sp>
      <p:pic>
        <p:nvPicPr>
          <p:cNvPr id="6" name="Image 0" descr="/mnt/data/accessibility_keyboard.png"/>
          <p:cNvPicPr>
            <a:picLocks noChangeAspect="1"/>
          </p:cNvPicPr>
          <p:nvPr/>
        </p:nvPicPr>
        <p:blipFill>
          <a:blip r:embed="rId3"/>
          <a:srcRect l="12571" r="12571"/>
          <a:stretch/>
        </p:blipFill>
        <p:spPr>
          <a:xfrm>
            <a:off x="685800" y="1600200"/>
            <a:ext cx="521208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60020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5"/>
          <p:cNvSpPr/>
          <p:nvPr/>
        </p:nvSpPr>
        <p:spPr>
          <a:xfrm>
            <a:off x="65836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Reglas esenciales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29400" y="2423160"/>
            <a:ext cx="434340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Usar HTML semántico antes que divs sin significado.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ARIA solo cuando el HTML nativo no alcanza.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Contraste WCAG AA: 4.5:1 en texto normal.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Área mínima táctil: 44 × 44 px.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Nunca eliminar el outline del foco.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29400" y="51663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Ejemplo: &lt;nav aria-label="Navegación principal"&gt; mejora la comprensión de lectores de pantalla.</a:t>
            </a:r>
            <a:endParaRPr lang="en-US" sz="1200" dirty="0"/>
          </a:p>
        </p:txBody>
      </p:sp>
      <p:sp>
        <p:nvSpPr>
          <p:cNvPr id="11" name="Info extra 11"/>
          <p:cNvSpPr/>
          <p:nvPr/>
        </p:nvSpPr>
        <p:spPr>
          <a:xfrm>
            <a:off x="800000" y="6100000"/>
            <a:ext cx="10500000" cy="52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Buenas prácticas A11y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No dependas solo del color: combina icono, texto y color para comunicar estados.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Prueba la navegación con Tab y Enter para asegurar que la interfaz funciona sin mouse.</a:t>
            </a:r>
            <a:endParaRPr lang="es-SV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Rendimiento también es UX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Una interfaz lenta se siente rota. Optimizar carga e interacción mejora satisfacción y conversiones.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22D3EE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3327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LCP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22D3EE"/>
                </a:solidFill>
              </a:rPr>
              <a:t>&lt; 2.5 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Preload de imágenes hero, SSR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382219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INP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22192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22D3EE"/>
                </a:solidFill>
              </a:rPr>
              <a:t>&lt; 200 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Diferir JavaScript no crítico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1111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CLS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11112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22D3EE"/>
                </a:solidFill>
              </a:rPr>
              <a:t>&lt; 0.1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1111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Reservar espacio en imágenes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5440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940003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TTFB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400032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22D3EE"/>
                </a:solidFill>
              </a:rPr>
              <a:t>&lt; 800 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0003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CDN, caching y HTTP/2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97764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88720" y="43159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&lt;img loading='lazy' decoding='async'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width='800' height='450'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alt='Descripción significativa' /&gt;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97764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29400" y="43159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Dashboard = lazy(() =&gt; import('./Dashboard'));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&lt;Suspense fallback={&lt;PageSkeleton /&gt;}&gt;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&lt;Dashboard /&gt;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&lt;/Suspense&gt;</a:t>
            </a:r>
            <a:endParaRPr lang="en-US" sz="1200" dirty="0"/>
          </a:p>
        </p:txBody>
      </p:sp>
      <p:sp>
        <p:nvSpPr>
          <p:cNvPr id="26" name="Info extra 26"/>
          <p:cNvSpPr/>
          <p:nvPr/>
        </p:nvSpPr>
        <p:spPr>
          <a:xfrm>
            <a:off x="800000" y="6120000"/>
            <a:ext cx="10500000" cy="50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Idea clave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Una página rápida reduce abandono y transmite confianza; por eso rendimiento y UX van juntos.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Optimiza imágenes, divide código pesado y reserva espacio para evitar saltos visuales.</a:t>
            </a:r>
            <a:endParaRPr lang="es-SV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Formularios: donde más fricción aparece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Un formulario bien diseñado reduce errores, acelera el llenado y aumenta la confianza del usuario.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749040" cy="4251960"/>
          </a:xfrm>
          <a:prstGeom prst="roundRect">
            <a:avLst>
              <a:gd name="adj" fmla="val 1951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Principios 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30175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Una columna por defecto.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Labels siempre visibles.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Validación después del blur.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Agrupar campos con fieldset.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Errores específicos y humanos.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Stepper si hay más de 5 campos.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1691640"/>
            <a:ext cx="2834640" cy="4251960"/>
          </a:xfrm>
          <a:prstGeom prst="roundRect">
            <a:avLst>
              <a:gd name="adj" fmla="val 2581"/>
            </a:avLst>
          </a:prstGeom>
          <a:solidFill>
            <a:srgbClr val="101827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51663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Ejemplo visual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24871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Nombre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268833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72033"/>
          </a:solidFill>
          <a:ln w="1143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es-ES" dirty="0">
                <a:solidFill>
                  <a:srgbClr val="FFFF00"/>
                </a:solidFill>
              </a:rPr>
              <a:t>Naun Emanuel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7800" y="32644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Correo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57800" y="346557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72033"/>
          </a:solidFill>
          <a:ln w="11430">
            <a:solidFill>
              <a:srgbClr val="EF4444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es-ES" dirty="0">
                <a:solidFill>
                  <a:srgbClr val="FFFF00"/>
                </a:solidFill>
              </a:rPr>
              <a:t>19923206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66944" y="38130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EF4444"/>
                </a:solidFill>
              </a:rPr>
              <a:t>Formato de email inválido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40416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Contraseña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57800" y="4242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72033"/>
          </a:solidFill>
          <a:ln w="1143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es-ES" dirty="0">
                <a:solidFill>
                  <a:srgbClr val="FFFF00"/>
                </a:solidFill>
              </a:rPr>
              <a:t>1234567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57800" y="50749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40680" y="519379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Crear cuenta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1691640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Text 19"/>
          <p:cNvSpPr/>
          <p:nvPr/>
        </p:nvSpPr>
        <p:spPr>
          <a:xfrm>
            <a:off x="836676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Validación en código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42316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(!value.trim())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'Campo obligatorio';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(!emailRegex.test(value))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'Correo inválido';</a:t>
            </a:r>
            <a:endParaRPr lang="en-US" sz="1200" dirty="0"/>
          </a:p>
          <a:p>
            <a:pPr marL="0" indent="0">
              <a:buNone/>
              <a:defRPr/>
            </a:pP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feedback inmediato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(touched) setError(validate(value));</a:t>
            </a:r>
            <a:endParaRPr lang="en-US" sz="1200" dirty="0"/>
          </a:p>
        </p:txBody>
      </p:sp>
      <p:pic>
        <p:nvPicPr>
          <p:cNvPr id="23" name="Picture 22" descr="img_ejemplo_formul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713232"/>
            <a:ext cx="1965960" cy="1133856"/>
          </a:xfrm>
          <a:prstGeom prst="rect">
            <a:avLst/>
          </a:prstGeom>
        </p:spPr>
      </p:pic>
      <p:sp>
        <p:nvSpPr>
          <p:cNvPr id="24" name="Info extra 24"/>
          <p:cNvSpPr/>
          <p:nvPr/>
        </p:nvSpPr>
        <p:spPr>
          <a:xfrm>
            <a:off x="685800" y="6250000"/>
            <a:ext cx="10800000" cy="42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Detalle importante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Los errores deben aparecer cerca del campo afectado y decir exactamente cómo corregirlos.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Un formulario simple aumenta la probabilidad de que el usuario lo complete.</a:t>
            </a:r>
            <a:endParaRPr lang="es-SV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Mobile First y diseño responsivo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Primero se diseña para móvil y luego se escala a pantallas más grandes con media queries.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554480" cy="33832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0160">
            <a:solidFill>
              <a:srgbClr val="22D3EE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E5E7EB"/>
                </a:solidFill>
              </a:rPr>
              <a:t>Móvil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33172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Base: contenido esencial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88036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70432" y="35204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377440" cy="33832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0160">
            <a:solidFill>
              <a:srgbClr val="3B82F6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E5E7EB"/>
                </a:solidFill>
              </a:rPr>
              <a:t>Tablet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6432" y="233172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Más espacio y columnas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47872" y="2880360"/>
            <a:ext cx="80010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416552" y="2880360"/>
            <a:ext cx="80010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547872" y="3520440"/>
            <a:ext cx="80010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416552" y="3520440"/>
            <a:ext cx="80010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29400" y="2011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E5E7EB"/>
                </a:solidFill>
              </a:rPr>
              <a:t>Desktop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56832" y="233172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Grid completo y paneles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48272" y="2880360"/>
            <a:ext cx="108204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876032" y="2880360"/>
            <a:ext cx="108204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003792" y="2880360"/>
            <a:ext cx="108204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748272" y="3520440"/>
            <a:ext cx="108204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876032" y="3520440"/>
            <a:ext cx="108204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003792" y="3520440"/>
            <a:ext cx="1082040" cy="411480"/>
          </a:xfrm>
          <a:prstGeom prst="roundRect">
            <a:avLst>
              <a:gd name="adj" fmla="val 17778"/>
            </a:avLst>
          </a:prstGeom>
          <a:solidFill>
            <a:srgbClr val="25334D"/>
          </a:solidFill>
          <a:ln w="10160">
            <a:solidFill>
              <a:srgbClr val="334155">
                <a:alpha val="4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05840" y="5715000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.card { padding: 1rem; width: 100%; }</a:t>
            </a:r>
            <a:endParaRPr lang="en-US" sz="1200" dirty="0"/>
          </a:p>
          <a:p>
            <a:pPr marL="0" indent="0" algn="ctr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@media (min-width: 48rem) { .card { width: 50%; } }</a:t>
            </a:r>
            <a:endParaRPr lang="en-US" sz="1200" dirty="0"/>
          </a:p>
          <a:p>
            <a:pPr marL="0" indent="0" algn="ctr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@media (min-width: 64rem) { .card { width: 33.333%; } }</a:t>
            </a:r>
            <a:endParaRPr lang="en-US" sz="1200" dirty="0"/>
          </a:p>
        </p:txBody>
      </p:sp>
      <p:pic>
        <p:nvPicPr>
          <p:cNvPr id="28" name="Picture 27" descr="img_ejemplo_respons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713232"/>
            <a:ext cx="1965960" cy="1133856"/>
          </a:xfrm>
          <a:prstGeom prst="rect">
            <a:avLst/>
          </a:prstGeom>
        </p:spPr>
      </p:pic>
      <p:sp>
        <p:nvSpPr>
          <p:cNvPr id="29" name="Info extra 29"/>
          <p:cNvSpPr/>
          <p:nvPr/>
        </p:nvSpPr>
        <p:spPr>
          <a:xfrm>
            <a:off x="800000" y="5200000"/>
            <a:ext cx="10500000" cy="45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Enfoque correcto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Diseña primero lo esencial para móvil; después agrega columnas, paneles y detalles en desktop.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Evita esconder funciones importantes solo porque la pantalla es pequeña.</a:t>
            </a:r>
            <a:endParaRPr lang="es-SV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Checklist final para Pull Requests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Antes de entregar una interfaz, revisa accesibilidad, rendimiento, UX, funcionalidad y mantenibilidad.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 dirty="0">
                <a:solidFill>
                  <a:srgbClr val="E5E7EB"/>
                </a:solidFill>
              </a:rPr>
              <a:t>Accesibilidad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✓ alt descriptivo   ✓ 44×44 px táctil   ✓ contraste WCAG AA   ✓ navegación por teclado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22C55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 dirty="0">
                <a:solidFill>
                  <a:srgbClr val="E5E7EB"/>
                </a:solidFill>
              </a:rPr>
              <a:t>Rendimiento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✓ imágenes optimizadas   ✓ lazy loading   ✓ bundle inicial controlado   ✓ sin JS bloqueante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A78BFA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 dirty="0">
                <a:solidFill>
                  <a:srgbClr val="E5E7EB"/>
                </a:solidFill>
              </a:rPr>
              <a:t>UX y funcionalidad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4114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✓ loading/error/empty/data   ✓ validación clara   ✓ confirmación destructiva   ✓ funciona en móvil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520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F59E0B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29400" y="3703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 dirty="0">
                <a:solidFill>
                  <a:srgbClr val="E5E7EB"/>
                </a:solidFill>
              </a:rPr>
              <a:t>Código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29400" y="4114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✓ tokens de diseño   ✓ componentes reutilizables   ✓ sin estilos inline innecesarios   ✓ CSS organizado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57150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E5E7EB"/>
                </a:solidFill>
              </a:rPr>
              <a:t>Conclusión: UI/UX no es decoración. Es una práctica técnica que hace que el software sea claro, accesible, rápido y agradable para todos.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1415</Words>
  <Application>Microsoft Office PowerPoint</Application>
  <PresentationFormat>Panorámica</PresentationFormat>
  <Paragraphs>249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Mono</vt:lpstr>
      <vt:lpstr>Arial</vt:lpstr>
      <vt:lpstr>Trebuchet MS</vt:lpstr>
      <vt:lpstr>Wingdings 3</vt:lpstr>
      <vt:lpstr>Faceta</vt:lpstr>
      <vt:lpstr>PRINCIPIOS DE UI/UX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UI/UX — Guía para Programadores</dc:title>
  <dc:subject>Principios de UI/UX para programadores</dc:subject>
  <dc:creator>OpenAI</dc:creator>
  <cp:lastModifiedBy>Naun Caballero</cp:lastModifiedBy>
  <cp:revision>4</cp:revision>
  <dcterms:created xsi:type="dcterms:W3CDTF">2026-04-28T17:39:30Z</dcterms:created>
  <dcterms:modified xsi:type="dcterms:W3CDTF">2026-05-05T20:23:58Z</dcterms:modified>
</cp:coreProperties>
</file>