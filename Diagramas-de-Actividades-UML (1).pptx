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3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rbel" panose="020B0503020204020204" pitchFamily="34" charset="0"/>
      <p:regular r:id="rId13"/>
      <p:bold r:id="rId14"/>
      <p:italic r:id="rId15"/>
      <p:boldItalic r:id="rId16"/>
    </p:embeddedFont>
    <p:embeddedFont>
      <p:font typeface="Nunito SemiBold" pitchFamily="2" charset="0"/>
      <p:regular r:id="rId17"/>
    </p:embeddedFont>
    <p:embeddedFont>
      <p:font typeface="PT Sans" panose="020B0503020203020204" pitchFamily="34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5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661782"/>
            <a:ext cx="7475220" cy="21945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2902226"/>
            <a:ext cx="6575895" cy="1041124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280035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37401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908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880181"/>
            <a:ext cx="7475220" cy="219456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3115890"/>
            <a:ext cx="6576822" cy="1022855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3015306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4873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1543049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1543050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62369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1501133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04111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499274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03949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230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98645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27708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822960"/>
            <a:ext cx="3909060" cy="349758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2631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4502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802385"/>
            <a:ext cx="4574286" cy="360045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16027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0817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3593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71500"/>
            <a:ext cx="1743075" cy="405765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571500"/>
            <a:ext cx="5572125" cy="40576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3596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553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4791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893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583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7547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2924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6852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942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2735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835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457200"/>
            <a:ext cx="7406640" cy="10172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1543050"/>
            <a:ext cx="7404653" cy="30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7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  <p:sldLayoutId id="2147483855" r:id="rId17"/>
    <p:sldLayoutId id="2147483856" r:id="rId18"/>
    <p:sldLayoutId id="2147483857" r:id="rId19"/>
    <p:sldLayoutId id="2147483858" r:id="rId20"/>
    <p:sldLayoutId id="2147483859" r:id="rId2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865561"/>
            <a:ext cx="4861173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Diagramas de Actividades UML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52577" y="2446809"/>
            <a:ext cx="4667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Una herramienta esencial para modelar procesos, flujos de trabajo y secuencias de actividades dentro de cualquier sistema de software.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52577" y="3022402"/>
            <a:ext cx="1368326" cy="245938"/>
          </a:xfrm>
          <a:prstGeom prst="roundRect">
            <a:avLst>
              <a:gd name="adj" fmla="val 63875"/>
            </a:avLst>
          </a:prstGeom>
          <a:solidFill>
            <a:srgbClr val="CFD6FC"/>
          </a:solidFill>
          <a:ln/>
        </p:spPr>
      </p:sp>
      <p:sp>
        <p:nvSpPr>
          <p:cNvPr id="6" name="Text 3"/>
          <p:cNvSpPr/>
          <p:nvPr/>
        </p:nvSpPr>
        <p:spPr>
          <a:xfrm>
            <a:off x="4031084" y="3061618"/>
            <a:ext cx="1668512" cy="1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INGENIERÍA DE SOFTWARE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386313" y="3012877"/>
            <a:ext cx="381298" cy="264988"/>
          </a:xfrm>
          <a:prstGeom prst="roundRect">
            <a:avLst>
              <a:gd name="adj" fmla="val 59283"/>
            </a:avLst>
          </a:prstGeom>
          <a:noFill/>
          <a:ln w="9525">
            <a:solidFill>
              <a:srgbClr val="2D4D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74345" y="3061618"/>
            <a:ext cx="662434" cy="1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UML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833021" y="3012877"/>
            <a:ext cx="1231404" cy="264988"/>
          </a:xfrm>
          <a:prstGeom prst="roundRect">
            <a:avLst>
              <a:gd name="adj" fmla="val 59283"/>
            </a:avLst>
          </a:prstGeom>
          <a:noFill/>
          <a:ln w="9525">
            <a:solidFill>
              <a:srgbClr val="2D4D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21053" y="3061618"/>
            <a:ext cx="1512540" cy="1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ANÁLISIS DE SISTEMAS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421234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3577" y="1666056"/>
            <a:ext cx="5720581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¿Qué es un Diagrama de Actividades?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9295" y="2247305"/>
            <a:ext cx="4077295" cy="1474961"/>
          </a:xfrm>
          <a:prstGeom prst="roundRect">
            <a:avLst>
              <a:gd name="adj" fmla="val 21301"/>
            </a:avLst>
          </a:prstGeom>
          <a:solidFill>
            <a:srgbClr val="2D4DF2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0189" y="2378199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Definición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0189" y="2701603"/>
            <a:ext cx="3815507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 diagrama de actividades es una </a:t>
            </a: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representación gráfica de un proceso o flujo de trabajo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Su objetivo principal es mostrar el orden en que ocurren las actividades y cómo se relacionan entre sí dentro de un sistema.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36455" y="2378199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¿Dónde se utiliza?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36455" y="2701603"/>
            <a:ext cx="3888730" cy="974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Ingeniería de software para diseñar algoritmos y flujos de control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Análisis de sistemas para documentar procesos empresariales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Diseño de procesos para optimizar workflows organizacionales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Comunicación entre equipos técnicos y no técnicos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138"/>
            <a:ext cx="200657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Elementos Principales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3577" y="655960"/>
            <a:ext cx="4303812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Los Símbolos del Diagrama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3577" y="1237208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Los diagramas de actividades utilizan un conjunto de símbolos estandarizados para representar cada componente del flujo. Conocerlos es fundamental para leer y construir diagramas correctamente.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3577" y="1803276"/>
            <a:ext cx="3982938" cy="1503759"/>
          </a:xfrm>
          <a:prstGeom prst="roundRect">
            <a:avLst>
              <a:gd name="adj" fmla="val 13058"/>
            </a:avLst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8759" y="1948458"/>
            <a:ext cx="392683" cy="392683"/>
          </a:xfrm>
          <a:prstGeom prst="roundRect">
            <a:avLst>
              <a:gd name="adj" fmla="val 14552269"/>
            </a:avLst>
          </a:prstGeom>
          <a:solidFill>
            <a:srgbClr val="2D4DF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734" y="2056433"/>
            <a:ext cx="176659" cy="176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8759" y="2472035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Nodo Inicial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8759" y="2743051"/>
            <a:ext cx="3692575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Círculo negro sólido. Marca el punto donde comienza el proceso.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37410" y="1803276"/>
            <a:ext cx="3983013" cy="1503759"/>
          </a:xfrm>
          <a:prstGeom prst="roundRect">
            <a:avLst>
              <a:gd name="adj" fmla="val 13058"/>
            </a:avLst>
          </a:prstGeom>
          <a:solidFill>
            <a:srgbClr val="F3F3FF"/>
          </a:solidFill>
          <a:ln w="14288">
            <a:solidFill>
              <a:srgbClr val="018C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82592" y="1948458"/>
            <a:ext cx="392683" cy="392683"/>
          </a:xfrm>
          <a:prstGeom prst="roundRect">
            <a:avLst>
              <a:gd name="adj" fmla="val 14552269"/>
            </a:avLst>
          </a:prstGeom>
          <a:solidFill>
            <a:srgbClr val="018CE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0567" y="2056433"/>
            <a:ext cx="176659" cy="1766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2592" y="2472035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Actividad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782592" y="2743051"/>
            <a:ext cx="3692649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Rectángulo con bordes redondeados. Representa una tarea o acción específica.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23577" y="3437930"/>
            <a:ext cx="3982938" cy="1294358"/>
          </a:xfrm>
          <a:prstGeom prst="roundRect">
            <a:avLst>
              <a:gd name="adj" fmla="val 15171"/>
            </a:avLst>
          </a:prstGeom>
          <a:solidFill>
            <a:srgbClr val="F3F3FF"/>
          </a:solidFill>
          <a:ln w="14288">
            <a:solidFill>
              <a:srgbClr val="DA33B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68759" y="3583112"/>
            <a:ext cx="392683" cy="392683"/>
          </a:xfrm>
          <a:prstGeom prst="roundRect">
            <a:avLst>
              <a:gd name="adj" fmla="val 14552269"/>
            </a:avLst>
          </a:prstGeom>
          <a:solidFill>
            <a:srgbClr val="DA33B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734" y="3691086"/>
            <a:ext cx="176659" cy="17665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8759" y="4106689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Nodo Final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68759" y="4377705"/>
            <a:ext cx="3692575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Círculo negro rodeado por otro círculo. Indica el fin del flujo.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37410" y="3437930"/>
            <a:ext cx="3983013" cy="1294358"/>
          </a:xfrm>
          <a:prstGeom prst="roundRect">
            <a:avLst>
              <a:gd name="adj" fmla="val 15171"/>
            </a:avLst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82592" y="3583112"/>
            <a:ext cx="392683" cy="392683"/>
          </a:xfrm>
          <a:prstGeom prst="roundRect">
            <a:avLst>
              <a:gd name="adj" fmla="val 14552269"/>
            </a:avLst>
          </a:prstGeom>
          <a:solidFill>
            <a:srgbClr val="2D4DF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0567" y="3691086"/>
            <a:ext cx="176659" cy="17665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82592" y="4106689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782592" y="4377705"/>
            <a:ext cx="3692649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Rombo que divide el flujo según una condición (Sí / No).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77925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Elementos de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3577" y="1022747"/>
            <a:ext cx="6124277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Decisiones: El Rombo que Dirige el Flujo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3577" y="1721793"/>
            <a:ext cx="4309542" cy="158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Las </a:t>
            </a:r>
            <a:r>
              <a:rPr lang="en-US" sz="10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decisiones</a:t>
            </a: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permiten dividir el flujo del proceso dependiendo de una condición lógica. Se representan mediante un </a:t>
            </a:r>
            <a:r>
              <a:rPr lang="en-US" sz="10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rombo</a:t>
            </a: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y cada salida lleva una etiqueta con la condición evaluada, como </a:t>
            </a:r>
            <a:r>
              <a:rPr lang="en-US" sz="100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"Sí"</a:t>
            </a: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 </a:t>
            </a:r>
            <a:r>
              <a:rPr lang="en-US" sz="100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"No"</a:t>
            </a: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00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"Aprobado"</a:t>
            </a: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 </a:t>
            </a:r>
            <a:r>
              <a:rPr lang="en-US" sz="100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"Rechazado"</a:t>
            </a: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Este elemento es clave para modelar sistemas donde el comportamiento cambia según el estado de los datos o las acciones del usuario. Sin decisiones, todos los procesos seguirían un único camino lineal.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3577" y="3452664"/>
            <a:ext cx="4309542" cy="765572"/>
          </a:xfrm>
          <a:prstGeom prst="roundRect">
            <a:avLst>
              <a:gd name="adj" fmla="val 25650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72" y="3649266"/>
            <a:ext cx="163637" cy="1308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9003" y="3616226"/>
            <a:ext cx="3753222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Cada salida del rombo debe tener una condición claramente etiquetada para evitar ambigüedades en el diagrama.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67" y="1751261"/>
            <a:ext cx="3467919" cy="193551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67" y="1751261"/>
            <a:ext cx="3467919" cy="1935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353" y="329878"/>
            <a:ext cx="1828874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Concurrencia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66353" y="542776"/>
            <a:ext cx="52787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Forks: Dividir para Ejecutar en Paralelo</a:t>
            </a:r>
            <a:endParaRPr lang="en-US" sz="2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53" y="1158180"/>
            <a:ext cx="3538612" cy="3538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94138" y="1134814"/>
            <a:ext cx="4388197" cy="79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 </a:t>
            </a: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fork</a:t>
            </a: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se utiliza para </a:t>
            </a: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dividir un flujo en varios procesos paralelos</a:t>
            </a: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que se ejecutan simultáneamente. Se representa mediante una </a:t>
            </a: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barra gruesa horizontal o vertical</a:t>
            </a: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9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Este elemento es fundamental en sistemas modernos donde diferentes operaciones pueden ocurrir al mismo tiempo sin depender una de la otra.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294138" y="2037457"/>
            <a:ext cx="1828874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Ejemplo típico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294138" y="2312640"/>
            <a:ext cx="4388197" cy="601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Enviar un correo de confirmación</a:t>
            </a:r>
            <a:endParaRPr lang="en-US" sz="90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Guardar información en la base de datos</a:t>
            </a:r>
            <a:endParaRPr lang="en-US" sz="90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Actualizar el inventario del producto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94138" y="3007742"/>
            <a:ext cx="438819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Todas estas tareas pueden ejecutarse en paralelo tras una compra, ahorrando tiempo de procesamiento.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82625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Concurrencia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3577" y="1127447"/>
            <a:ext cx="5570041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Joins: Sincronizar Procesos Paralelos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3577" y="1826493"/>
            <a:ext cx="4309542" cy="1374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 </a:t>
            </a:r>
            <a:r>
              <a:rPr lang="en-US" sz="10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join</a:t>
            </a: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sirve para </a:t>
            </a:r>
            <a:r>
              <a:rPr lang="en-US" sz="10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unir varios procesos paralelos en un único flujo</a:t>
            </a: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nuevamente. También se representa con una barra gruesa, y su función es </a:t>
            </a:r>
            <a:r>
              <a:rPr lang="en-US" sz="10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sincronizar actividades</a:t>
            </a: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antes de continuar con el proceso principal.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join actúa como un punto de espera: el flujo no avanza hasta que </a:t>
            </a:r>
            <a:r>
              <a:rPr lang="en-US" sz="10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todos los procesos paralelos hayan terminado</a:t>
            </a: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Esto garantiza la consistencia del sistema.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3577" y="3347963"/>
            <a:ext cx="4309542" cy="765572"/>
          </a:xfrm>
          <a:prstGeom prst="roundRect">
            <a:avLst>
              <a:gd name="adj" fmla="val 25650"/>
            </a:avLst>
          </a:prstGeom>
          <a:solidFill>
            <a:srgbClr val="B6FCB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72" y="3544565"/>
            <a:ext cx="163637" cy="1308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9003" y="3511525"/>
            <a:ext cx="3753222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Fork y Join siempre trabajan en pareja: lo que se divide debe eventualmente reunirse.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67" y="1855961"/>
            <a:ext cx="3467919" cy="193551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67" y="1855961"/>
            <a:ext cx="3467919" cy="1935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796" y="350788"/>
            <a:ext cx="175661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Beneficios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70796" y="550366"/>
            <a:ext cx="4831407" cy="649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Ventajas de los Diagramas de Actividades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870796" y="1339900"/>
            <a:ext cx="4831407" cy="793328"/>
          </a:xfrm>
          <a:prstGeom prst="roundRect">
            <a:avLst>
              <a:gd name="adj" fmla="val 8645"/>
            </a:avLst>
          </a:prstGeom>
          <a:solidFill>
            <a:srgbClr val="F3F3FF">
              <a:alpha val="75000"/>
            </a:srgbClr>
          </a:solidFill>
          <a:ln w="14288">
            <a:solidFill>
              <a:srgbClr val="2D4D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856509" y="1339900"/>
            <a:ext cx="57150" cy="793328"/>
          </a:xfrm>
          <a:prstGeom prst="roundRect">
            <a:avLst>
              <a:gd name="adj" fmla="val 289912"/>
            </a:avLst>
          </a:prstGeom>
          <a:solidFill>
            <a:srgbClr val="2D4DF2"/>
          </a:solidFill>
          <a:ln/>
        </p:spPr>
      </p:sp>
      <p:sp>
        <p:nvSpPr>
          <p:cNvPr id="7" name="Text 4"/>
          <p:cNvSpPr/>
          <p:nvPr/>
        </p:nvSpPr>
        <p:spPr>
          <a:xfrm>
            <a:off x="4038377" y="1464618"/>
            <a:ext cx="215443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Comprensión de procesos complejos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038377" y="1682874"/>
            <a:ext cx="4539109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Permiten visualizar flujos intricados de forma clara y accesible, facilitando que cualquier miembro del equipo entienda el comportamiento del sistema.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870796" y="2226394"/>
            <a:ext cx="4831407" cy="793328"/>
          </a:xfrm>
          <a:prstGeom prst="roundRect">
            <a:avLst>
              <a:gd name="adj" fmla="val 8645"/>
            </a:avLst>
          </a:prstGeom>
          <a:solidFill>
            <a:srgbClr val="F3F3FF">
              <a:alpha val="75000"/>
            </a:srgbClr>
          </a:solidFill>
          <a:ln w="14288">
            <a:solidFill>
              <a:srgbClr val="018C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56509" y="2226394"/>
            <a:ext cx="57150" cy="793328"/>
          </a:xfrm>
          <a:prstGeom prst="roundRect">
            <a:avLst>
              <a:gd name="adj" fmla="val 289912"/>
            </a:avLst>
          </a:prstGeom>
          <a:solidFill>
            <a:srgbClr val="018CE1"/>
          </a:solidFill>
          <a:ln/>
        </p:spPr>
      </p:sp>
      <p:sp>
        <p:nvSpPr>
          <p:cNvPr id="11" name="Text 8"/>
          <p:cNvSpPr/>
          <p:nvPr/>
        </p:nvSpPr>
        <p:spPr>
          <a:xfrm>
            <a:off x="4038377" y="2351112"/>
            <a:ext cx="181949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Detección temprana de errores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038377" y="2569369"/>
            <a:ext cx="4539109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Ayudan a identificar redundancias, caminos sin salida o condiciones no contempladas antes de escribir una sola línea de código.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870796" y="3112889"/>
            <a:ext cx="4831407" cy="793328"/>
          </a:xfrm>
          <a:prstGeom prst="roundRect">
            <a:avLst>
              <a:gd name="adj" fmla="val 8645"/>
            </a:avLst>
          </a:prstGeom>
          <a:solidFill>
            <a:srgbClr val="F3F3FF">
              <a:alpha val="75000"/>
            </a:srgbClr>
          </a:solidFill>
          <a:ln w="14288">
            <a:solidFill>
              <a:srgbClr val="DA33B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56509" y="3112889"/>
            <a:ext cx="57150" cy="793328"/>
          </a:xfrm>
          <a:prstGeom prst="roundRect">
            <a:avLst>
              <a:gd name="adj" fmla="val 289912"/>
            </a:avLst>
          </a:prstGeom>
          <a:solidFill>
            <a:srgbClr val="DA33BF"/>
          </a:solidFill>
          <a:ln/>
        </p:spPr>
      </p:sp>
      <p:sp>
        <p:nvSpPr>
          <p:cNvPr id="15" name="Text 12"/>
          <p:cNvSpPr/>
          <p:nvPr/>
        </p:nvSpPr>
        <p:spPr>
          <a:xfrm>
            <a:off x="4038377" y="3237607"/>
            <a:ext cx="189927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Documentación viva del sistema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038377" y="3455863"/>
            <a:ext cx="4539109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Sirven como referencia técnica actualizable que acompaña al proyecto durante todo su ciclo de vida.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870796" y="3999384"/>
            <a:ext cx="4831407" cy="793328"/>
          </a:xfrm>
          <a:prstGeom prst="roundRect">
            <a:avLst>
              <a:gd name="adj" fmla="val 8645"/>
            </a:avLst>
          </a:prstGeom>
          <a:solidFill>
            <a:srgbClr val="F3F3FF">
              <a:alpha val="75000"/>
            </a:srgbClr>
          </a:solidFill>
          <a:ln w="14288">
            <a:solidFill>
              <a:srgbClr val="2D4D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56509" y="3999384"/>
            <a:ext cx="57150" cy="793328"/>
          </a:xfrm>
          <a:prstGeom prst="roundRect">
            <a:avLst>
              <a:gd name="adj" fmla="val 289912"/>
            </a:avLst>
          </a:prstGeom>
          <a:solidFill>
            <a:srgbClr val="2D4DF2"/>
          </a:solidFill>
          <a:ln/>
        </p:spPr>
      </p:sp>
      <p:sp>
        <p:nvSpPr>
          <p:cNvPr id="19" name="Text 16"/>
          <p:cNvSpPr/>
          <p:nvPr/>
        </p:nvSpPr>
        <p:spPr>
          <a:xfrm>
            <a:off x="4038377" y="4124102"/>
            <a:ext cx="1378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Mejora la comunicación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038377" y="4342358"/>
            <a:ext cx="4539109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Actúan como lenguaje común entre desarrolladores, analistas y stakeholders no técnicos, alineando expectativas desde el inicio.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8050" y="257101"/>
            <a:ext cx="1491928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Ejemplo Práctico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308050" y="410021"/>
            <a:ext cx="3129186" cy="258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Proceso de Compra en Línea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08050" y="757312"/>
            <a:ext cx="6985099" cy="117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continuación se muestra cómo un diagrama de actividades modela el flujo completo de una compra online, incluyendo decisiones y procesos paralelos.</a:t>
            </a:r>
            <a:endParaRPr lang="en-US" sz="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050" y="941338"/>
            <a:ext cx="6527899" cy="364346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050" y="941338"/>
            <a:ext cx="6527899" cy="36434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08050" y="4651251"/>
            <a:ext cx="6527899" cy="235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Este ejemplo ilustra cómo los elementos UML trabajan juntos: las </a:t>
            </a:r>
            <a:r>
              <a:rPr lang="en-US" sz="6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decisiones</a:t>
            </a:r>
            <a:r>
              <a:rPr lang="en-US" sz="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controlan el flujo según condiciones, mientras que los </a:t>
            </a:r>
            <a:r>
              <a:rPr lang="en-US" sz="6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forks y joins</a:t>
            </a:r>
            <a:r>
              <a:rPr lang="en-US" sz="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gestionan la concurrencia de operaciones.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82749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Resumen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3577" y="927571"/>
            <a:ext cx="3537421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Conclusiones Clave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3577" y="1508820"/>
            <a:ext cx="3982938" cy="980182"/>
          </a:xfrm>
          <a:prstGeom prst="roundRect">
            <a:avLst>
              <a:gd name="adj" fmla="val 20034"/>
            </a:avLst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8759" y="1654001"/>
            <a:ext cx="176733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🔵</a:t>
            </a: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Representación visual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8759" y="1925017"/>
            <a:ext cx="369257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Los diagramas de actividades convierten procesos abstractos en representaciones gráficas comprensibles para todo el equipo.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7410" y="1508820"/>
            <a:ext cx="3983013" cy="980182"/>
          </a:xfrm>
          <a:prstGeom prst="roundRect">
            <a:avLst>
              <a:gd name="adj" fmla="val 20034"/>
            </a:avLst>
          </a:prstGeom>
          <a:solidFill>
            <a:srgbClr val="F3F3FF"/>
          </a:solidFill>
          <a:ln w="14288">
            <a:solidFill>
              <a:srgbClr val="018C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82592" y="1654001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⬡ Decisiones y control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82592" y="1925017"/>
            <a:ext cx="3692649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rombo de decisión permite modelar bifurcaciones condicionales, esenciales para sistemas interactivos.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3577" y="2619896"/>
            <a:ext cx="3982938" cy="980182"/>
          </a:xfrm>
          <a:prstGeom prst="roundRect">
            <a:avLst>
              <a:gd name="adj" fmla="val 20034"/>
            </a:avLst>
          </a:prstGeom>
          <a:solidFill>
            <a:srgbClr val="F3F3FF"/>
          </a:solidFill>
          <a:ln w="14288">
            <a:solidFill>
              <a:srgbClr val="DA33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759" y="2765078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⚡</a:t>
            </a: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Concurrencia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8759" y="3036094"/>
            <a:ext cx="369257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Forks y Joins permiten representar y sincronizar procesos paralelos, clave en sistemas modernos de alto rendimiento.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37410" y="2619896"/>
            <a:ext cx="3983013" cy="980182"/>
          </a:xfrm>
          <a:prstGeom prst="roundRect">
            <a:avLst>
              <a:gd name="adj" fmla="val 20034"/>
            </a:avLst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592" y="2765078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📋</a:t>
            </a: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Documentación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82592" y="3036094"/>
            <a:ext cx="3692649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Funcionan como documentación técnica viva que facilita el mantenimiento y la evolución del software.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9882" y="3894609"/>
            <a:ext cx="790054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Gracias a los diagramas de actividades, desarrolladores y analistas pueden </a:t>
            </a:r>
            <a:r>
              <a:rPr lang="en-US" sz="10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comprender mejor el comportamiento de un sistema y optimizar sus procesos</a:t>
            </a: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antes de la implementación.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3577" y="3747343"/>
            <a:ext cx="14288" cy="713333"/>
          </a:xfrm>
          <a:prstGeom prst="rect">
            <a:avLst/>
          </a:prstGeom>
          <a:solidFill>
            <a:srgbClr val="2D4DF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095" y="379140"/>
            <a:ext cx="1925092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Referencia Rápida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99095" y="610195"/>
            <a:ext cx="3991719" cy="366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Glosario de Términos UML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99095" y="1155502"/>
            <a:ext cx="8145810" cy="3608784"/>
          </a:xfrm>
          <a:prstGeom prst="roundRect">
            <a:avLst>
              <a:gd name="adj" fmla="val 518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3858" y="1160264"/>
            <a:ext cx="8136285" cy="3470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28650" y="1236315"/>
            <a:ext cx="223941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Término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65065" y="1236315"/>
            <a:ext cx="6307559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Definición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7945" y="1541332"/>
            <a:ext cx="8136285" cy="5420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SV" dirty="0"/>
          </a:p>
        </p:txBody>
      </p:sp>
      <p:sp>
        <p:nvSpPr>
          <p:cNvPr id="9" name="Text 7"/>
          <p:cNvSpPr/>
          <p:nvPr/>
        </p:nvSpPr>
        <p:spPr>
          <a:xfrm>
            <a:off x="699770" y="1583382"/>
            <a:ext cx="223941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UML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65065" y="1583382"/>
            <a:ext cx="5850359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Lenguaje Unificado de Modelado. Estándar internacional para diseñar, visualizar y documentar sistemas de software.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3858" y="2049363"/>
            <a:ext cx="8136285" cy="5420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28650" y="2125414"/>
            <a:ext cx="223941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18CE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65065" y="2125414"/>
            <a:ext cx="5850359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Elemento que divide un flujo en múltiples procesos paralelos que se ejecutan simultáneamente. Se representa con una barra gruesa.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3858" y="2591395"/>
            <a:ext cx="8136285" cy="5420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8650" y="2667446"/>
            <a:ext cx="223941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18CE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Join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65065" y="2667446"/>
            <a:ext cx="5850359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Elemento que une procesos paralelos en un único flujo. Sincroniza las actividades antes de continuar. Usa la misma barra gruesa.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3858" y="3133427"/>
            <a:ext cx="8136285" cy="5420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28650" y="3209479"/>
            <a:ext cx="223941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DA33B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Decision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65065" y="3209479"/>
            <a:ext cx="5850359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Punto de bifurcación donde el flujo cambia según una condición lógica. Se representa con un rombo y salidas etiquetadas.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3858" y="3675459"/>
            <a:ext cx="8136285" cy="5420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28650" y="3751511"/>
            <a:ext cx="223941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Nodo Inicial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65065" y="3751511"/>
            <a:ext cx="5850359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Punto de entrada del diagrama. Representado por un círculo negro sólido. Solo puede haber uno por flujo principal.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3858" y="4217491"/>
            <a:ext cx="8136285" cy="5420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28650" y="4293543"/>
            <a:ext cx="223941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Nodo Final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65065" y="4293543"/>
            <a:ext cx="5850359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Punto de salida del diagrama. Representado por un círculo negro rodeado de otro círculo. Indica el fin del proceso.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Base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7</TotalTime>
  <Words>910</Words>
  <Application>Microsoft Office PowerPoint</Application>
  <PresentationFormat>Presentación en pantalla (16:9)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PT Sans</vt:lpstr>
      <vt:lpstr>Corbel</vt:lpstr>
      <vt:lpstr>Nunito SemiBold</vt:lpstr>
      <vt:lpstr>Base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Naun</dc:creator>
  <cp:lastModifiedBy>Naun Caballero</cp:lastModifiedBy>
  <cp:revision>2</cp:revision>
  <dcterms:created xsi:type="dcterms:W3CDTF">2026-05-24T23:55:43Z</dcterms:created>
  <dcterms:modified xsi:type="dcterms:W3CDTF">2026-05-25T19:58:54Z</dcterms:modified>
</cp:coreProperties>
</file>