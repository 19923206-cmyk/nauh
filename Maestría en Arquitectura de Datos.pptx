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D2347C-D970-4650-89F0-A3D0F2C1E6A0}">
  <a:tblStyle styleId="{5DD2347C-D970-4650-89F0-A3D0F2C1E6A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SV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SV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SV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5737" y="-271463"/>
            <a:ext cx="12192000" cy="712946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de Datos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9050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Diagramas de Estado, Transacciones y Sistemas Activos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4591049" y="2552700"/>
            <a:ext cx="2024063" cy="6096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52800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Nombre: 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Lato"/>
                <a:ea typeface="Lato"/>
                <a:cs typeface="Lato"/>
                <a:sym typeface="Lato"/>
              </a:rPr>
              <a:t>Naun</a:t>
            </a:r>
            <a:r>
              <a:rPr lang="en-US" sz="15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Emanuel Caballero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Agenda de Especialización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6764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01. Modelado Dinámico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Teoría de Máquinas de Estado y Matrices de Transición.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908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02. El Motor Transaccional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Profundización en ACID y Niveles de Aislamiento.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5052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03. Bases de Datos Activas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Modelo ECA, Triggers y Lógica Procedural.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81750" y="16764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04. Resiliencia y Durabilidad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Write-Ahead Logging (WAL) y estrategias de recuperación.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0" y="259080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05. Sistemas </a:t>
            </a:r>
            <a:r>
              <a:rPr lang="en-US" sz="1500" b="1" i="0" u="none" strike="noStrike" cap="none" dirty="0" err="1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Distribuidos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Transacciones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distribuidas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(2PC) y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Teorema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CAP.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Diagramas de Estado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17145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modelado de estados define el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comportamiento dinámico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de las entidades. A diferencia del modelo ER, los estados garantizan que un registro solo transite por rutas lógicas permitidas.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23850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Componentes clave: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38200" y="3867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8671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Estados: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Situaciones finitas de un registro.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38200" y="41529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1529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Transiciones: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El camino de cambio.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8200" y="4438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44386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Guardas: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Validaciones lógicas críticas.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Matriz de Transición de Estados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514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Esta matriz previene inconsistencias lógicas en el negocio, actuando como la "máquina de la verdad" del proceso.</a:t>
            </a:r>
            <a:endParaRPr/>
          </a:p>
        </p:txBody>
      </p:sp>
      <p:graphicFrame>
        <p:nvGraphicFramePr>
          <p:cNvPr id="125" name="Google Shape;125;p16"/>
          <p:cNvGraphicFramePr/>
          <p:nvPr/>
        </p:nvGraphicFramePr>
        <p:xfrm>
          <a:off x="571500" y="1714500"/>
          <a:ext cx="11049025" cy="2514625"/>
        </p:xfrm>
        <a:graphic>
          <a:graphicData uri="http://schemas.openxmlformats.org/drawingml/2006/table">
            <a:tbl>
              <a:tblPr firstRow="1" bandRow="1">
                <a:noFill/>
                <a:tableStyleId>{5DD2347C-D970-4650-89F0-A3D0F2C1E6A0}</a:tableStyleId>
              </a:tblPr>
              <a:tblGrid>
                <a:gridCol w="245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Origen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Destino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Evento Disparador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Guardas / Condición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ORDEN_CREADA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ORDEN_PAGADA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PAGO_RECIBIDO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Stock &gt;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ORDEN_PAGADA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EN_PREPARACION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CONFIRMACION_ALMACEN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Asignación de Picking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EN_PREPARACION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ENVIADA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DESPACHO_LOGISTICA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Guía generada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* CUALQUIERA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CANCELADA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SOLICITUD_USUARIO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 != 'ENVIADA'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6" name="Google Shape;126;p16"/>
          <p:cNvSpPr/>
          <p:nvPr/>
        </p:nvSpPr>
        <p:spPr>
          <a:xfrm>
            <a:off x="571500" y="270033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29694" y="270033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487888" y="2700337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9003357" y="2700337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320516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029694" y="320516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487888" y="3205162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003357" y="3205162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370998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029694" y="3709987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487888" y="3709987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003357" y="3709987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421481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029694" y="4214812"/>
            <a:ext cx="2458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487888" y="4214812"/>
            <a:ext cx="3515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003357" y="4214812"/>
            <a:ext cx="26171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Propiedades ACID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05263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E09F3E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19563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263B"/>
                </a:solidFill>
                <a:latin typeface="Lato"/>
                <a:ea typeface="Lato"/>
                <a:cs typeface="Lato"/>
                <a:sym typeface="Lato"/>
              </a:rPr>
              <a:t>Integridad de Datos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152400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El Contrato Transaccional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199072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Las bases de datos relacionales garantizan la integridad mediante el cumplimiento estricto de: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48450" y="2752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62750" y="27527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Atomicidad: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Todo o nada.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48450" y="3038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62750" y="30384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Consistencia: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Paso de estado válido a válido.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48450" y="3324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62750" y="332422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Aislamiento</a:t>
            </a:r>
            <a:r>
              <a:rPr lang="en-US" sz="1500" b="1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Invisibilidad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transacciones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concurrentes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648450" y="3609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62750" y="360997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Durabilidad: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Persistencia post-fallo.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0" y="1524000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0" y="2047875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6500" y="2571750"/>
            <a:ext cx="9144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76500" y="1524000"/>
            <a:ext cx="8686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6500" y="2047875"/>
            <a:ext cx="6400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6500" y="2571750"/>
            <a:ext cx="32004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Niveles de Aislamiento vs. Rendimiento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4766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 mayor seguridad de aislamiento, mayor es la contención de recursos y menor el rendimiento.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1585912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Read Committed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2109787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Repeatable Read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2633662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Serializable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523875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24000"/>
            <a:ext cx="52387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Control de Concurrencia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195262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Bloqueo Pesimista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241935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sistema bloquea el recurso inmediatamente al ser accedido. Ideal para entornos de alta contención donde los conflictos son frecuentes.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34671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rPr>
              <a:t>Riesgo elevado de Deadlocks.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62750" y="1952625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Bloqueo Optimista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762750" y="241935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No se bloquea el recurso. Al intentar guardar, se verifica una versión. Ideal para sistemas distribuidos y alta escalabilidad.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762750" y="34671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Menor latencia de lectura.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5052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350520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3465671" y="2300287"/>
            <a:ext cx="526065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Durabilidad y WAL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2286000" y="3300412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Write-Ahead Logging</a:t>
            </a: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asegura que ningún cambio confirmado se pierda. Antes de persistir en las tablas finales, el motor registra la intención en un log secuencial, permitiendo la recuperación ante fallos catastróficos.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524000"/>
            <a:ext cx="35559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El Modelo ECA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Evento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6677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El disparador primario. Puede ser una operación DML (INSERT, UPDATE) o una señal temporal del sistema.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1322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Condición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61322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Regla lógica que evalúa si la acción debe ejecutarse. Previene ejecuciones innecesarias y optimiza recursos.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359675" y="2428875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263B"/>
                </a:solidFill>
                <a:latin typeface="Poppins"/>
                <a:ea typeface="Poppins"/>
                <a:cs typeface="Poppins"/>
                <a:sym typeface="Poppins"/>
              </a:rPr>
              <a:t>Acción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359675" y="29527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La consecuencia final. Puede ser otra modificación de datos, un cálculo derivado o el registro de una auditoría.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66900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18669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1866900"/>
            <a:ext cx="2571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9243" y="152400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3618" y="22383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Tipos de Eventos de Base de Datos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7279481" y="247650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DML (60%):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CRUD de datos.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279481" y="295275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Temporales (25%):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Schedulers/Jobs.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7279481" y="3429000"/>
            <a:ext cx="33432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DDL (15%):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Cambios de esquema.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Lógica Procedural y Triggers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6381750" y="188118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Triggers y Stored Procedures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381750" y="234791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Permiten mover la lógica de negocio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dentro del motor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para garantizar el cumplimiento de reglas independientemente de la aplicación.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648450" y="33956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762750" y="339566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Integridad Referencial Compleja: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Más allá de las claves foráneas.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648450" y="39671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762750" y="3967162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Auditoría Transparente: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Historial automático de cambios.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648450" y="42529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762750" y="4252912"/>
            <a:ext cx="485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Encapsulamiento: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Seguridad mediante procedimientos almacenados.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Sistemas Distribuidos: 2PC Latencia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1714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Impacto del protocolo </a:t>
            </a:r>
            <a:r>
              <a:rPr lang="en-US" sz="1500" b="1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Two-Phase Commit (2PC)</a:t>
            </a: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en la latencia transaccional distribuida.</a:t>
            </a:r>
            <a:endParaRPr/>
          </a:p>
        </p:txBody>
      </p:sp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1250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71500" y="5429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 medida que aumenta la distribución, el costo de la consistencia (Teorema CAP) impacta directamente en la disponibilidad.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6860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9541" y="2476500"/>
            <a:ext cx="243066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1B2A"/>
                </a:solidFill>
                <a:latin typeface="Poppins"/>
                <a:ea typeface="Poppins"/>
                <a:cs typeface="Poppins"/>
                <a:sym typeface="Poppins"/>
              </a:rPr>
              <a:t>Flujo de Recuperación post-Fallo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386137"/>
            <a:ext cx="11049000" cy="1905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1467742" y="2676525"/>
            <a:ext cx="6381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01. Crash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77152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Fallo del sistema, pérdida de memoria volátil.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4283273" y="2676525"/>
            <a:ext cx="752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02. Análisis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364420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Lectura del WAL para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identificar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transacciones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abiertas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76" name="Google Shape;276;p25"/>
          <p:cNvSpPr txBox="1"/>
          <p:nvPr/>
        </p:nvSpPr>
        <p:spPr>
          <a:xfrm>
            <a:off x="7236916" y="2676525"/>
            <a:ext cx="590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03. Redo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516885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Re-ejecución de cambios confirmados no persistidos.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100071" y="2676525"/>
            <a:ext cx="609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Lato"/>
                <a:ea typeface="Lato"/>
                <a:cs typeface="Lato"/>
                <a:sym typeface="Lato"/>
              </a:rPr>
              <a:t>04. Undo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9389566" y="3048000"/>
            <a:ext cx="203061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Reversión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transacciones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1500" b="0" i="0" u="none" strike="noStrike" cap="none" dirty="0" err="1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hicieron</a:t>
            </a:r>
            <a:r>
              <a:rPr lang="en-US" sz="1500" b="0" i="0" u="none" strike="noStrike" cap="none" dirty="0">
                <a:solidFill>
                  <a:srgbClr val="415A77"/>
                </a:solidFill>
                <a:latin typeface="Lato"/>
                <a:ea typeface="Lato"/>
                <a:cs typeface="Lato"/>
                <a:sym typeface="Lato"/>
              </a:rPr>
              <a:t> COMMIT.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09F3E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71500" y="19050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Tu especialización en el mundo de los datos comienza con el dominio de estos fundamentos.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571500" y="304800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Ingeniería de Sistemas de Datos |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Panorámica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Calibri</vt:lpstr>
      <vt:lpstr>Lato</vt:lpstr>
      <vt:lpstr>Arial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Naun</dc:creator>
  <cp:lastModifiedBy>Naun Caballero</cp:lastModifiedBy>
  <cp:revision>1</cp:revision>
  <dcterms:modified xsi:type="dcterms:W3CDTF">2026-06-03T17:42:12Z</dcterms:modified>
</cp:coreProperties>
</file>