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49264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10621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3612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8655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40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8532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5741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0048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6859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9427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9572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56193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2140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0205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4076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1885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8F131-989D-41F4-A8FF-DEF03ECB3C24}" type="datetimeFigureOut">
              <a:rPr lang="es-SV" smtClean="0"/>
              <a:t>24/2/2026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56DE951-996E-4375-8E5D-4017003D743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1700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F4DCE-00E8-7428-F210-940B20B7F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228" y="-132347"/>
            <a:ext cx="8825658" cy="2093495"/>
          </a:xfrm>
        </p:spPr>
        <p:txBody>
          <a:bodyPr/>
          <a:lstStyle/>
          <a:p>
            <a:r>
              <a:rPr lang="es-SV" dirty="0"/>
              <a:t>TIPOS DE SISTEMAS INFORMÁTICOS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035854-C72F-432C-335B-FE6D9046A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0597" y="2733596"/>
            <a:ext cx="8825658" cy="861420"/>
          </a:xfrm>
        </p:spPr>
        <p:txBody>
          <a:bodyPr>
            <a:normAutofit fontScale="25000" lnSpcReduction="20000"/>
          </a:bodyPr>
          <a:lstStyle/>
          <a:p>
            <a:r>
              <a:rPr lang="es-ES" sz="7200" b="1" dirty="0">
                <a:solidFill>
                  <a:srgbClr val="00B050"/>
                </a:solidFill>
              </a:rPr>
              <a:t>¿Qué es un sistema informático?</a:t>
            </a:r>
          </a:p>
          <a:p>
            <a:r>
              <a:rPr lang="es-ES" sz="7200" dirty="0">
                <a:solidFill>
                  <a:srgbClr val="00B050"/>
                </a:solidFill>
              </a:rPr>
              <a:t>Un </a:t>
            </a:r>
            <a:r>
              <a:rPr lang="es-ES" sz="7200" b="1" dirty="0">
                <a:solidFill>
                  <a:srgbClr val="00B050"/>
                </a:solidFill>
              </a:rPr>
              <a:t>sistema informático</a:t>
            </a:r>
            <a:r>
              <a:rPr lang="es-ES" sz="7200" dirty="0">
                <a:solidFill>
                  <a:srgbClr val="00B050"/>
                </a:solidFill>
              </a:rPr>
              <a:t> es el conjunto de elementos tecnológicos que permiten procesar, almacenar y transmitir información. Está compuesto por:</a:t>
            </a:r>
          </a:p>
          <a:p>
            <a:r>
              <a:rPr lang="es-ES" sz="7200" b="1" dirty="0">
                <a:solidFill>
                  <a:srgbClr val="00B050"/>
                </a:solidFill>
              </a:rPr>
              <a:t>Hardware</a:t>
            </a:r>
            <a:r>
              <a:rPr lang="es-ES" sz="7200" dirty="0">
                <a:solidFill>
                  <a:srgbClr val="00B050"/>
                </a:solidFill>
              </a:rPr>
              <a:t> (computadoras, servidores, dispositivos)</a:t>
            </a:r>
          </a:p>
          <a:p>
            <a:r>
              <a:rPr lang="es-ES" sz="7200" b="1" dirty="0">
                <a:solidFill>
                  <a:srgbClr val="00B050"/>
                </a:solidFill>
              </a:rPr>
              <a:t>Software</a:t>
            </a:r>
            <a:r>
              <a:rPr lang="es-ES" sz="7200" dirty="0">
                <a:solidFill>
                  <a:srgbClr val="00B050"/>
                </a:solidFill>
              </a:rPr>
              <a:t> (programas y aplicaciones)</a:t>
            </a:r>
          </a:p>
          <a:p>
            <a:r>
              <a:rPr lang="es-ES" sz="7200" b="1" dirty="0">
                <a:solidFill>
                  <a:srgbClr val="00B050"/>
                </a:solidFill>
              </a:rPr>
              <a:t>Datos</a:t>
            </a:r>
            <a:endParaRPr lang="es-ES" sz="7200" dirty="0">
              <a:solidFill>
                <a:srgbClr val="00B050"/>
              </a:solidFill>
            </a:endParaRPr>
          </a:p>
          <a:p>
            <a:r>
              <a:rPr lang="es-ES" sz="7200" b="1" dirty="0">
                <a:solidFill>
                  <a:srgbClr val="00B050"/>
                </a:solidFill>
              </a:rPr>
              <a:t>Usuarios</a:t>
            </a:r>
            <a:endParaRPr lang="es-ES" sz="7200" dirty="0">
              <a:solidFill>
                <a:srgbClr val="00B050"/>
              </a:solidFill>
            </a:endParaRPr>
          </a:p>
          <a:p>
            <a:r>
              <a:rPr lang="es-ES" sz="7200" b="1" dirty="0">
                <a:solidFill>
                  <a:srgbClr val="00B050"/>
                </a:solidFill>
              </a:rPr>
              <a:t>Redes</a:t>
            </a:r>
            <a:endParaRPr lang="es-ES" sz="7200" dirty="0">
              <a:solidFill>
                <a:srgbClr val="00B050"/>
              </a:solidFill>
            </a:endParaRPr>
          </a:p>
          <a:p>
            <a:r>
              <a:rPr lang="es-ES" sz="7200" dirty="0">
                <a:solidFill>
                  <a:srgbClr val="00B050"/>
                </a:solidFill>
              </a:rPr>
              <a:t>Su función principal es transformar datos en información útil.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51052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8A1A4-32E3-01C7-DBDA-F53C50E3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de Procesamiento de Transacciones (TPS)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50DA55-8DD6-4CCA-127A-DA9179C6D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Definición</a:t>
            </a:r>
          </a:p>
          <a:p>
            <a:r>
              <a:rPr lang="es-ES" dirty="0">
                <a:solidFill>
                  <a:srgbClr val="00B050"/>
                </a:solidFill>
              </a:rPr>
              <a:t>Los Sistemas de Procesamiento de Transacciones (TPS) gestionan operaciones diarias y repetitivas de una organización.</a:t>
            </a:r>
          </a:p>
          <a:p>
            <a:r>
              <a:rPr lang="es-ES" b="1" dirty="0">
                <a:solidFill>
                  <a:srgbClr val="00B050"/>
                </a:solidFill>
              </a:rPr>
              <a:t> Ejemplos</a:t>
            </a:r>
          </a:p>
          <a:p>
            <a:r>
              <a:rPr lang="es-ES" dirty="0">
                <a:solidFill>
                  <a:srgbClr val="00B050"/>
                </a:solidFill>
              </a:rPr>
              <a:t>Sistemas de facturación</a:t>
            </a:r>
          </a:p>
          <a:p>
            <a:r>
              <a:rPr lang="es-ES" dirty="0">
                <a:solidFill>
                  <a:srgbClr val="00B050"/>
                </a:solidFill>
              </a:rPr>
              <a:t>Control de inventarios</a:t>
            </a:r>
          </a:p>
          <a:p>
            <a:r>
              <a:rPr lang="es-ES" dirty="0">
                <a:solidFill>
                  <a:srgbClr val="00B050"/>
                </a:solidFill>
              </a:rPr>
              <a:t>Nómina de empleados</a:t>
            </a:r>
          </a:p>
          <a:p>
            <a:r>
              <a:rPr lang="es-ES" dirty="0">
                <a:solidFill>
                  <a:srgbClr val="00B050"/>
                </a:solidFill>
              </a:rPr>
              <a:t>Cajeros automáticos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F77EC1-2C7D-B84F-D2F7-B2CEF18A8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326" y="3368548"/>
            <a:ext cx="4938461" cy="277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1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844D9-1461-0835-CA68-0E62BDA5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F3B1A1-7F7D-2879-9952-C54CECFAC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Características</a:t>
            </a:r>
          </a:p>
          <a:p>
            <a:r>
              <a:rPr lang="es-ES" dirty="0">
                <a:solidFill>
                  <a:srgbClr val="00B050"/>
                </a:solidFill>
              </a:rPr>
              <a:t>Procesan grandes volúmenes de datos</a:t>
            </a:r>
          </a:p>
          <a:p>
            <a:r>
              <a:rPr lang="es-ES" dirty="0">
                <a:solidFill>
                  <a:srgbClr val="00B050"/>
                </a:solidFill>
              </a:rPr>
              <a:t>Funcionan en tiempo real</a:t>
            </a:r>
          </a:p>
          <a:p>
            <a:r>
              <a:rPr lang="es-ES" dirty="0">
                <a:solidFill>
                  <a:srgbClr val="00B050"/>
                </a:solidFill>
              </a:rPr>
              <a:t>Alta precisión</a:t>
            </a:r>
          </a:p>
          <a:p>
            <a:r>
              <a:rPr lang="es-ES" dirty="0">
                <a:solidFill>
                  <a:srgbClr val="00B050"/>
                </a:solidFill>
              </a:rPr>
              <a:t>Automatización de tareas rutinarias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535CE7-619F-4E07-3615-7493F1E96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78" y="4391526"/>
            <a:ext cx="6133097" cy="219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0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03999-8F92-FA8F-47EE-6F9CA3C4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46A247-1D43-4D55-F5BA-32413BF48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Ventajas</a:t>
            </a:r>
          </a:p>
          <a:p>
            <a:r>
              <a:rPr lang="es-ES" dirty="0">
                <a:solidFill>
                  <a:srgbClr val="00B050"/>
                </a:solidFill>
              </a:rPr>
              <a:t>Rapidez en el procesamiento</a:t>
            </a:r>
          </a:p>
          <a:p>
            <a:r>
              <a:rPr lang="es-ES" dirty="0">
                <a:solidFill>
                  <a:srgbClr val="00B050"/>
                </a:solidFill>
              </a:rPr>
              <a:t>Reduce errores humanos</a:t>
            </a:r>
          </a:p>
          <a:p>
            <a:r>
              <a:rPr lang="es-ES" dirty="0">
                <a:solidFill>
                  <a:srgbClr val="00B050"/>
                </a:solidFill>
              </a:rPr>
              <a:t>Ahorra tiempo</a:t>
            </a:r>
          </a:p>
          <a:p>
            <a:r>
              <a:rPr lang="es-ES" dirty="0">
                <a:solidFill>
                  <a:srgbClr val="00B050"/>
                </a:solidFill>
              </a:rPr>
              <a:t>Mejora la organización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55FAC1-6A40-0374-944A-8A9A12C27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040" y="4283242"/>
            <a:ext cx="6663991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0593B-0AF8-BF88-0F0F-402711DF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217FBA-5545-0679-6D1E-59776BC7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Desventajas</a:t>
            </a:r>
          </a:p>
          <a:p>
            <a:r>
              <a:rPr lang="es-ES" dirty="0">
                <a:solidFill>
                  <a:srgbClr val="00B050"/>
                </a:solidFill>
              </a:rPr>
              <a:t>Alto costo de implementación</a:t>
            </a:r>
          </a:p>
          <a:p>
            <a:r>
              <a:rPr lang="es-ES" dirty="0">
                <a:solidFill>
                  <a:srgbClr val="00B050"/>
                </a:solidFill>
              </a:rPr>
              <a:t>Dependencia tecnológica</a:t>
            </a:r>
          </a:p>
          <a:p>
            <a:r>
              <a:rPr lang="es-ES" dirty="0">
                <a:solidFill>
                  <a:srgbClr val="00B050"/>
                </a:solidFill>
              </a:rPr>
              <a:t>Vulnerabilidad a fallos del sistema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E6109D-55E3-0902-B4C2-0EB4F26B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116" y="4174958"/>
            <a:ext cx="5029199" cy="21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0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0620C-4271-10BF-EA5E-7617D747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de Información Gerencial (MIS)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2637AC-A9AD-DBC4-2B52-EB3E83C2A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 Definición</a:t>
            </a:r>
          </a:p>
          <a:p>
            <a:r>
              <a:rPr lang="es-ES" dirty="0">
                <a:solidFill>
                  <a:srgbClr val="00B050"/>
                </a:solidFill>
              </a:rPr>
              <a:t>Los Sistemas de Información Gerencial (MIS) generan reportes para ayudar a los directivos en la toma de decisiones.</a:t>
            </a:r>
          </a:p>
          <a:p>
            <a:r>
              <a:rPr lang="es-ES" b="1" dirty="0">
                <a:solidFill>
                  <a:srgbClr val="00B050"/>
                </a:solidFill>
              </a:rPr>
              <a:t> Ejemplos</a:t>
            </a:r>
          </a:p>
          <a:p>
            <a:r>
              <a:rPr lang="es-ES" dirty="0">
                <a:solidFill>
                  <a:srgbClr val="00B050"/>
                </a:solidFill>
              </a:rPr>
              <a:t>Reportes financieros</a:t>
            </a:r>
          </a:p>
          <a:p>
            <a:r>
              <a:rPr lang="es-ES" dirty="0">
                <a:solidFill>
                  <a:srgbClr val="00B050"/>
                </a:solidFill>
              </a:rPr>
              <a:t>Estadísticas de ventas</a:t>
            </a:r>
          </a:p>
          <a:p>
            <a:r>
              <a:rPr lang="es-ES" dirty="0">
                <a:solidFill>
                  <a:srgbClr val="00B050"/>
                </a:solidFill>
              </a:rPr>
              <a:t>Análisis de rendimiento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ACAD19-558F-6605-201C-7F3FE3EC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442" y="3429000"/>
            <a:ext cx="6308558" cy="308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4B6BF-4147-8C25-8124-23044E41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8E540-2017-00C1-5FB2-267757F39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Características</a:t>
            </a:r>
          </a:p>
          <a:p>
            <a:r>
              <a:rPr lang="es-ES" dirty="0">
                <a:solidFill>
                  <a:srgbClr val="00B050"/>
                </a:solidFill>
              </a:rPr>
              <a:t>Generan informes periódicos</a:t>
            </a:r>
          </a:p>
          <a:p>
            <a:r>
              <a:rPr lang="es-ES" dirty="0">
                <a:solidFill>
                  <a:srgbClr val="00B050"/>
                </a:solidFill>
              </a:rPr>
              <a:t>Utilizan datos de los TPS</a:t>
            </a:r>
          </a:p>
          <a:p>
            <a:r>
              <a:rPr lang="es-ES" dirty="0">
                <a:solidFill>
                  <a:srgbClr val="00B050"/>
                </a:solidFill>
              </a:rPr>
              <a:t>Facilitan planificación y control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4A542D-FCDA-6C40-9FB6-882D499D5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085" y="4022411"/>
            <a:ext cx="5090862" cy="237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2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1CC4B-FC7A-0F4B-CA1B-0A86D497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7C781A-CAEC-F600-FE63-C17C053E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Ventajas</a:t>
            </a:r>
          </a:p>
          <a:p>
            <a:r>
              <a:rPr lang="es-ES" dirty="0">
                <a:solidFill>
                  <a:srgbClr val="00B050"/>
                </a:solidFill>
              </a:rPr>
              <a:t>Reduce riesgos</a:t>
            </a:r>
          </a:p>
          <a:p>
            <a:r>
              <a:rPr lang="es-ES" dirty="0">
                <a:solidFill>
                  <a:srgbClr val="00B050"/>
                </a:solidFill>
              </a:rPr>
              <a:t>Mejora decisiones estratégicas</a:t>
            </a:r>
          </a:p>
          <a:p>
            <a:r>
              <a:rPr lang="es-ES" dirty="0">
                <a:solidFill>
                  <a:srgbClr val="00B050"/>
                </a:solidFill>
              </a:rPr>
              <a:t>Permite analizar múltiples escenarios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A22CA4-DAC1-E165-8FDD-02D3DD932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131" y="4199021"/>
            <a:ext cx="4297781" cy="194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0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B3CF9-9E50-58BA-D69F-0E81EA38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43B5FA-D861-4D11-1CB4-3EA5CC94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Desventajas</a:t>
            </a:r>
          </a:p>
          <a:p>
            <a:r>
              <a:rPr lang="es-ES" dirty="0">
                <a:solidFill>
                  <a:srgbClr val="00B050"/>
                </a:solidFill>
              </a:rPr>
              <a:t>Requiere personal capacitado</a:t>
            </a:r>
          </a:p>
          <a:p>
            <a:r>
              <a:rPr lang="es-ES" dirty="0">
                <a:solidFill>
                  <a:srgbClr val="00B050"/>
                </a:solidFill>
              </a:rPr>
              <a:t>Alto costo</a:t>
            </a:r>
          </a:p>
          <a:p>
            <a:r>
              <a:rPr lang="es-ES" dirty="0">
                <a:solidFill>
                  <a:srgbClr val="00B050"/>
                </a:solidFill>
              </a:rPr>
              <a:t>Puede depender demasiado de modelos matemáticos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10C47C-17BA-E306-1214-63CC4B68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460" y="4022411"/>
            <a:ext cx="4586287" cy="224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0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2CA6B-4CEB-6955-5A2A-5386687F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Sistemas Empresariales (ERP)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3E82D9-15BC-907C-177B-8FBFE5C53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  <a:p>
            <a:r>
              <a:rPr lang="es-ES" b="1" dirty="0">
                <a:solidFill>
                  <a:srgbClr val="00B050"/>
                </a:solidFill>
              </a:rPr>
              <a:t>Definición</a:t>
            </a:r>
          </a:p>
          <a:p>
            <a:r>
              <a:rPr lang="es-ES" dirty="0">
                <a:solidFill>
                  <a:srgbClr val="00B050"/>
                </a:solidFill>
              </a:rPr>
              <a:t>Integran todas las áreas de una empresa en un solo sistema.</a:t>
            </a:r>
          </a:p>
          <a:p>
            <a:r>
              <a:rPr lang="es-ES" b="1" dirty="0">
                <a:solidFill>
                  <a:srgbClr val="00B050"/>
                </a:solidFill>
              </a:rPr>
              <a:t> Áreas que integran</a:t>
            </a:r>
          </a:p>
          <a:p>
            <a:r>
              <a:rPr lang="es-ES" dirty="0">
                <a:solidFill>
                  <a:srgbClr val="00B050"/>
                </a:solidFill>
              </a:rPr>
              <a:t>Finanzas</a:t>
            </a:r>
          </a:p>
          <a:p>
            <a:r>
              <a:rPr lang="es-ES" dirty="0">
                <a:solidFill>
                  <a:srgbClr val="00B050"/>
                </a:solidFill>
              </a:rPr>
              <a:t>Recursos Humanos</a:t>
            </a:r>
          </a:p>
          <a:p>
            <a:r>
              <a:rPr lang="es-ES" dirty="0">
                <a:solidFill>
                  <a:srgbClr val="00B050"/>
                </a:solidFill>
              </a:rPr>
              <a:t>Ventas</a:t>
            </a:r>
          </a:p>
          <a:p>
            <a:r>
              <a:rPr lang="es-ES" dirty="0">
                <a:solidFill>
                  <a:srgbClr val="00B050"/>
                </a:solidFill>
              </a:rPr>
              <a:t>Producción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6BEA52-CD84-FD29-7963-E3F7526E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108" y="3585411"/>
            <a:ext cx="4678113" cy="25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5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1F255-AC22-CC9C-4E42-10197E80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1FA97C-D827-1251-24C3-8AA8F5BCA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Características</a:t>
            </a:r>
          </a:p>
          <a:p>
            <a:r>
              <a:rPr lang="es-ES" dirty="0">
                <a:solidFill>
                  <a:srgbClr val="00B050"/>
                </a:solidFill>
              </a:rPr>
              <a:t>Información centralizada</a:t>
            </a:r>
          </a:p>
          <a:p>
            <a:r>
              <a:rPr lang="es-ES" dirty="0">
                <a:solidFill>
                  <a:srgbClr val="00B050"/>
                </a:solidFill>
              </a:rPr>
              <a:t>Acceso en tiempo real</a:t>
            </a:r>
          </a:p>
          <a:p>
            <a:r>
              <a:rPr lang="es-ES" dirty="0">
                <a:solidFill>
                  <a:srgbClr val="00B050"/>
                </a:solidFill>
              </a:rPr>
              <a:t>Mejora la coordinación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0403C0-E2F5-DD10-9A65-B7101575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4066674"/>
            <a:ext cx="5135479" cy="184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50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B0C53-A393-F02C-9B28-48358D99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CFA211-63E4-CC25-2253-03CD0D3CF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Ventajas</a:t>
            </a:r>
          </a:p>
          <a:p>
            <a:r>
              <a:rPr lang="es-ES" dirty="0">
                <a:solidFill>
                  <a:srgbClr val="00B050"/>
                </a:solidFill>
              </a:rPr>
              <a:t>Mayor eficiencia</a:t>
            </a:r>
          </a:p>
          <a:p>
            <a:r>
              <a:rPr lang="es-ES" dirty="0">
                <a:solidFill>
                  <a:srgbClr val="00B050"/>
                </a:solidFill>
              </a:rPr>
              <a:t>Evita duplicidad de datos</a:t>
            </a:r>
          </a:p>
          <a:p>
            <a:r>
              <a:rPr lang="es-ES" dirty="0">
                <a:solidFill>
                  <a:srgbClr val="00B050"/>
                </a:solidFill>
              </a:rPr>
              <a:t>Mejor control interno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26DE10-4C83-65E8-B25A-52BF8CC5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926159"/>
            <a:ext cx="5837573" cy="261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5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E5113-5AC3-81F3-CC31-8C97BFCA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Desventajas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90F7DD-C058-3305-0525-367E33BB4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00B050"/>
                </a:solidFill>
              </a:rPr>
              <a:t>Desventajas</a:t>
            </a:r>
          </a:p>
          <a:p>
            <a:r>
              <a:rPr lang="es-ES" dirty="0">
                <a:solidFill>
                  <a:srgbClr val="00B050"/>
                </a:solidFill>
              </a:rPr>
              <a:t>Implementación larga</a:t>
            </a:r>
          </a:p>
          <a:p>
            <a:r>
              <a:rPr lang="es-ES" dirty="0">
                <a:solidFill>
                  <a:srgbClr val="00B050"/>
                </a:solidFill>
              </a:rPr>
              <a:t>Alto costo</a:t>
            </a:r>
          </a:p>
          <a:p>
            <a:r>
              <a:rPr lang="es-ES" dirty="0">
                <a:solidFill>
                  <a:srgbClr val="00B050"/>
                </a:solidFill>
              </a:rPr>
              <a:t>Requiere capacitación constante</a:t>
            </a:r>
          </a:p>
          <a:p>
            <a:endParaRPr lang="es-SV" dirty="0">
              <a:solidFill>
                <a:srgbClr val="00B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833A58-D0ED-7868-C6C4-A28764BC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603" y="3937082"/>
            <a:ext cx="5343776" cy="247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9141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</TotalTime>
  <Words>281</Words>
  <Application>Microsoft Office PowerPoint</Application>
  <PresentationFormat>Panorámica</PresentationFormat>
  <Paragraphs>80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Espiral</vt:lpstr>
      <vt:lpstr>TIPOS DE SISTEMAS INFORMÁTICOS</vt:lpstr>
      <vt:lpstr>Sistemas de Procesamiento de Transacciones (TPS)</vt:lpstr>
      <vt:lpstr>característica</vt:lpstr>
      <vt:lpstr>Ventajas</vt:lpstr>
      <vt:lpstr>Desventajas</vt:lpstr>
      <vt:lpstr>Sistemas de Información Gerencial (MIS)</vt:lpstr>
      <vt:lpstr>característica</vt:lpstr>
      <vt:lpstr>ventajas</vt:lpstr>
      <vt:lpstr>Desventajas</vt:lpstr>
      <vt:lpstr>Sistemas Empresariales (ERP)</vt:lpstr>
      <vt:lpstr>característica</vt:lpstr>
      <vt:lpstr>Ventajas</vt:lpstr>
      <vt:lpstr>Desventajas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Naun</dc:creator>
  <cp:lastModifiedBy>Naun</cp:lastModifiedBy>
  <cp:revision>2</cp:revision>
  <dcterms:created xsi:type="dcterms:W3CDTF">2026-02-24T15:26:18Z</dcterms:created>
  <dcterms:modified xsi:type="dcterms:W3CDTF">2026-02-24T17:26:49Z</dcterms:modified>
</cp:coreProperties>
</file>