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embeddedFontLst>
    <p:embeddedFont>
      <p:font typeface="Roboto"/>
      <p:regular r:id="rId19"/>
      <p:bold r:id="rId20"/>
      <p:italic r:id="rId21"/>
      <p:boldItalic r:id="rId22"/>
    </p:embeddedFont>
    <p:embeddedFont>
      <p:font typeface="Playfair Display"/>
      <p:regular r:id="rId23"/>
      <p:bold r:id="rId24"/>
      <p:italic r:id="rId25"/>
      <p:boldItalic r:id="rId26"/>
    </p:embeddedFont>
    <p:embeddedFont>
      <p:font typeface="Roboto Light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FF74E8-985D-47A6-99EC-5E90C7FEBD7A}">
  <a:tblStyle styleId="{42FF74E8-985D-47A6-99EC-5E90C7FEBD7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-bold.fntdata"/><Relationship Id="rId22" Type="http://schemas.openxmlformats.org/officeDocument/2006/relationships/font" Target="fonts/Roboto-boldItalic.fntdata"/><Relationship Id="rId21" Type="http://schemas.openxmlformats.org/officeDocument/2006/relationships/font" Target="fonts/Roboto-italic.fntdata"/><Relationship Id="rId24" Type="http://schemas.openxmlformats.org/officeDocument/2006/relationships/font" Target="fonts/PlayfairDisplay-bold.fntdata"/><Relationship Id="rId23" Type="http://schemas.openxmlformats.org/officeDocument/2006/relationships/font" Target="fonts/PlayfairDisplay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layfairDisplay-boldItalic.fntdata"/><Relationship Id="rId25" Type="http://schemas.openxmlformats.org/officeDocument/2006/relationships/font" Target="fonts/PlayfairDisplay-italic.fntdata"/><Relationship Id="rId28" Type="http://schemas.openxmlformats.org/officeDocument/2006/relationships/font" Target="fonts/RobotoLight-bold.fntdata"/><Relationship Id="rId27" Type="http://schemas.openxmlformats.org/officeDocument/2006/relationships/font" Target="fonts/RobotoLight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Light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RobotoLigh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Roboto-regular.fntdata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9.png"/><Relationship Id="rId5" Type="http://schemas.openxmlformats.org/officeDocument/2006/relationships/image" Target="../media/image3.png"/><Relationship Id="rId6" Type="http://schemas.openxmlformats.org/officeDocument/2006/relationships/image" Target="../media/image11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439441"/>
            <a:ext cx="11601450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 Anatomía de los Datos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3490912"/>
            <a:ext cx="1104900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796B"/>
                </a:solidFill>
                <a:latin typeface="Roboto Light"/>
                <a:ea typeface="Roboto Light"/>
                <a:cs typeface="Roboto Light"/>
                <a:sym typeface="Roboto Light"/>
              </a:rPr>
              <a:t>Estructuración y Gestión de Atributos en el Modelado de Clases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237583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78909C"/>
                </a:solidFill>
                <a:latin typeface="Roboto"/>
                <a:ea typeface="Roboto"/>
                <a:cs typeface="Roboto"/>
                <a:sym typeface="Roboto"/>
              </a:rPr>
              <a:t>Investigación técnica sobre la definición de propiedades en bases de datos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619750" y="762000"/>
            <a:ext cx="952500" cy="5715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295275" y="100965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Fundamentos del Atributo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571500" y="19240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Definiendo el estado y las características de las entidades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66987"/>
            <a:ext cx="523875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566987"/>
            <a:ext cx="523875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5"/>
          <p:cNvSpPr txBox="1"/>
          <p:nvPr/>
        </p:nvSpPr>
        <p:spPr>
          <a:xfrm>
            <a:off x="962025" y="2957512"/>
            <a:ext cx="46805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¿Qué es un Atributo?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962025" y="3195637"/>
            <a:ext cx="44577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Es una unidad de datos que describe una propiedad específica de una clase. Representa el "qué sabe" el objeto sobre sí mismo, definiendo su estado interno.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6772275" y="2957512"/>
            <a:ext cx="468058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Encapsulamiento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6772275" y="3195637"/>
            <a:ext cx="44577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La visibilidad determina quién puede acceder al dato: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6896100" y="39004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6962775" y="390048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Privado (-):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Solo la clase misma.</a:t>
            </a:r>
            <a:endParaRPr/>
          </a:p>
        </p:txBody>
      </p:sp>
      <p:sp>
        <p:nvSpPr>
          <p:cNvPr id="109" name="Google Shape;109;p15"/>
          <p:cNvSpPr txBox="1"/>
          <p:nvPr/>
        </p:nvSpPr>
        <p:spPr>
          <a:xfrm>
            <a:off x="6896100" y="42052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0" name="Google Shape;110;p15"/>
          <p:cNvSpPr txBox="1"/>
          <p:nvPr/>
        </p:nvSpPr>
        <p:spPr>
          <a:xfrm>
            <a:off x="6962775" y="420528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Público (+):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Cualquier otra clase.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6896100" y="4510087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6962775" y="4510087"/>
            <a:ext cx="42672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Protegido (#):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Solo subclases.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Atributos: Definición y Visibilidad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9" name="Google Shape;11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7650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76500"/>
            <a:ext cx="3492549" cy="2819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76500"/>
            <a:ext cx="3492549" cy="2819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784223" y="3552825"/>
            <a:ext cx="306710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Compuestos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857250" y="3790950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Atributos que se pueden dividir en sub-partes con significado propio, como una </a:t>
            </a: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Dirección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(Calle, Ciudad, CP).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4562523" y="3552825"/>
            <a:ext cx="306710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Multivaluados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4635549" y="3790950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Propiedades que pueden tener más de un valor para una instancia, como los </a:t>
            </a: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Teléfonos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de un docente.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340822" y="3552825"/>
            <a:ext cx="3067102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Derivados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8413849" y="3790950"/>
            <a:ext cx="2921049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Valores que no se almacenan físicamente, sino que se calculan a partir de otros, como la </a:t>
            </a: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Edad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a partir de la fecha de nacimiento.</a:t>
            </a:r>
            <a:endParaRPr/>
          </a:p>
        </p:txBody>
      </p:sp>
      <p:pic>
        <p:nvPicPr>
          <p:cNvPr descr="image.png" id="129" name="Google Shape;129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60525" y="284797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8479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702849" y="2847975"/>
            <a:ext cx="3429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Tipos Complejos de Atributos</a:t>
            </a:r>
            <a:endParaRPr/>
          </a:p>
        </p:txBody>
      </p:sp>
      <p:sp>
        <p:nvSpPr>
          <p:cNvPr id="133" name="Google Shape;133;p16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8" name="Google Shape;13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39" name="Google Shape;139;p17"/>
          <p:cNvGraphicFramePr/>
          <p:nvPr/>
        </p:nvGraphicFramePr>
        <p:xfrm>
          <a:off x="571500" y="23241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{42FF74E8-985D-47A6-99EC-5E90C7FEBD7A}</a:tableStyleId>
              </a:tblPr>
              <a:tblGrid>
                <a:gridCol w="1928375"/>
                <a:gridCol w="3238200"/>
                <a:gridCol w="3104850"/>
                <a:gridCol w="2777575"/>
              </a:tblGrid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Categoría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Tipo de Dato (SQL/UML)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Ejemplo de Dominio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4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FFFFFF"/>
                          </a:solidFill>
                          <a:latin typeface="Playfair Display"/>
                          <a:ea typeface="Playfair Display"/>
                          <a:cs typeface="Playfair Display"/>
                          <a:sym typeface="Playfair Display"/>
                        </a:rPr>
                        <a:t>Restricción Típica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4D40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Identificación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VARCHAR / INTEGER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Cédulas, Matrículas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NOT NULL, UNIQUE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Texto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STRING / TEXT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Nombres, Descripciones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Min Length: 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Temporal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DATE / TIMESTAMP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Fecha de Ingreso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Check: &lt; CurrentDate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6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Numérico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DECIMAL / FLOAT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Salarios, Promedios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455A64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Range: 0.0 - 100.0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5F7F7"/>
                    </a:solidFill>
                  </a:tcPr>
                </a:tc>
              </a:tr>
            </a:tbl>
          </a:graphicData>
        </a:graphic>
      </p:graphicFrame>
      <p:sp>
        <p:nvSpPr>
          <p:cNvPr id="140" name="Google Shape;140;p17"/>
          <p:cNvSpPr/>
          <p:nvPr/>
        </p:nvSpPr>
        <p:spPr>
          <a:xfrm>
            <a:off x="571500" y="3652837"/>
            <a:ext cx="1928366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7"/>
          <p:cNvSpPr/>
          <p:nvPr/>
        </p:nvSpPr>
        <p:spPr>
          <a:xfrm>
            <a:off x="2499866" y="3652837"/>
            <a:ext cx="323820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7"/>
          <p:cNvSpPr/>
          <p:nvPr/>
        </p:nvSpPr>
        <p:spPr>
          <a:xfrm>
            <a:off x="5738068" y="3652837"/>
            <a:ext cx="310485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8842920" y="3652837"/>
            <a:ext cx="2777579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571500" y="4310062"/>
            <a:ext cx="1928366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2499866" y="4310062"/>
            <a:ext cx="323820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5738068" y="4310062"/>
            <a:ext cx="310485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/>
          <p:nvPr/>
        </p:nvSpPr>
        <p:spPr>
          <a:xfrm>
            <a:off x="8842920" y="4310062"/>
            <a:ext cx="2777579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7"/>
          <p:cNvSpPr/>
          <p:nvPr/>
        </p:nvSpPr>
        <p:spPr>
          <a:xfrm>
            <a:off x="571500" y="4967287"/>
            <a:ext cx="1928366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7"/>
          <p:cNvSpPr/>
          <p:nvPr/>
        </p:nvSpPr>
        <p:spPr>
          <a:xfrm>
            <a:off x="2499866" y="4967287"/>
            <a:ext cx="323820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7"/>
          <p:cNvSpPr/>
          <p:nvPr/>
        </p:nvSpPr>
        <p:spPr>
          <a:xfrm>
            <a:off x="5738068" y="4967287"/>
            <a:ext cx="310485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8842920" y="4967287"/>
            <a:ext cx="2777579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/>
          <p:nvPr/>
        </p:nvSpPr>
        <p:spPr>
          <a:xfrm>
            <a:off x="571500" y="5624512"/>
            <a:ext cx="1928366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7"/>
          <p:cNvSpPr/>
          <p:nvPr/>
        </p:nvSpPr>
        <p:spPr>
          <a:xfrm>
            <a:off x="2499866" y="5624512"/>
            <a:ext cx="323820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7"/>
          <p:cNvSpPr/>
          <p:nvPr/>
        </p:nvSpPr>
        <p:spPr>
          <a:xfrm>
            <a:off x="5738068" y="5624512"/>
            <a:ext cx="3104852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8842920" y="5624512"/>
            <a:ext cx="2777579" cy="9525"/>
          </a:xfrm>
          <a:prstGeom prst="rect">
            <a:avLst/>
          </a:prstGeom>
          <a:solidFill>
            <a:srgbClr val="CFD8D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Tipos de Datos y Dominios</a:t>
            </a:r>
            <a:endParaRPr/>
          </a:p>
        </p:txBody>
      </p:sp>
      <p:sp>
        <p:nvSpPr>
          <p:cNvPr id="157" name="Google Shape;157;p17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8"/>
          <p:cNvSpPr txBox="1"/>
          <p:nvPr/>
        </p:nvSpPr>
        <p:spPr>
          <a:xfrm>
            <a:off x="571500" y="2967037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PK</a:t>
            </a:r>
            <a:endParaRPr/>
          </a:p>
        </p:txBody>
      </p:sp>
      <p:sp>
        <p:nvSpPr>
          <p:cNvPr id="164" name="Google Shape;164;p18"/>
          <p:cNvSpPr txBox="1"/>
          <p:nvPr/>
        </p:nvSpPr>
        <p:spPr>
          <a:xfrm>
            <a:off x="571500" y="4491037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B300"/>
                </a:solidFill>
                <a:latin typeface="Roboto"/>
                <a:ea typeface="Roboto"/>
                <a:cs typeface="Roboto"/>
                <a:sym typeface="Roboto"/>
              </a:rPr>
              <a:t>PRIMARY KEY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6381750" y="3005137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El Atributo Identificador</a:t>
            </a:r>
            <a:endParaRPr/>
          </a:p>
        </p:txBody>
      </p:sp>
      <p:sp>
        <p:nvSpPr>
          <p:cNvPr id="166" name="Google Shape;166;p18"/>
          <p:cNvSpPr txBox="1"/>
          <p:nvPr/>
        </p:nvSpPr>
        <p:spPr>
          <a:xfrm>
            <a:off x="6381750" y="3243262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Toda clase en una base de datos requiere un atributo único e irreducible que identifique a cada objeto de manera inequívoca. Este atributo garantiza la integridad referencial y permite establecer relaciones entre tablas como las que veremos a continuación.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La Identidad del Registro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9"/>
          <p:cNvSpPr/>
          <p:nvPr/>
        </p:nvSpPr>
        <p:spPr>
          <a:xfrm>
            <a:off x="5619750" y="762000"/>
            <a:ext cx="952500" cy="57150"/>
          </a:xfrm>
          <a:prstGeom prst="rect">
            <a:avLst/>
          </a:prstGeom>
          <a:solidFill>
            <a:srgbClr val="FFD54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19"/>
          <p:cNvSpPr txBox="1"/>
          <p:nvPr/>
        </p:nvSpPr>
        <p:spPr>
          <a:xfrm>
            <a:off x="295275" y="1009650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Casos de Estudio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571500" y="1924050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Implementación de atributos en Alumno, Docente y Materia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1" name="Google Shape;18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00400"/>
            <a:ext cx="5238750" cy="922585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20"/>
          <p:cNvSpPr txBox="1"/>
          <p:nvPr/>
        </p:nvSpPr>
        <p:spPr>
          <a:xfrm>
            <a:off x="571500" y="14859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Los atributos del alumno se centran en su trayectoria y estatus dentro de la institución:</a:t>
            </a:r>
            <a:endParaRPr/>
          </a:p>
        </p:txBody>
      </p:sp>
      <p:pic>
        <p:nvPicPr>
          <p:cNvPr descr="image.png" id="184" name="Google Shape;184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1485900"/>
            <a:ext cx="5238750" cy="527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0"/>
          <p:cNvSpPr txBox="1"/>
          <p:nvPr/>
        </p:nvSpPr>
        <p:spPr>
          <a:xfrm>
            <a:off x="695325" y="20955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86" name="Google Shape;186;p20"/>
          <p:cNvSpPr txBox="1"/>
          <p:nvPr/>
        </p:nvSpPr>
        <p:spPr>
          <a:xfrm>
            <a:off x="762000" y="20955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Matrícula: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Atributo Clave (PK).</a:t>
            </a:r>
            <a:endParaRPr/>
          </a:p>
        </p:txBody>
      </p:sp>
      <p:sp>
        <p:nvSpPr>
          <p:cNvPr id="187" name="Google Shape;187;p20"/>
          <p:cNvSpPr txBox="1"/>
          <p:nvPr/>
        </p:nvSpPr>
        <p:spPr>
          <a:xfrm>
            <a:off x="695325" y="24003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762000" y="24003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Promedio: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Atributo Derivado (Calculado).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695325" y="27051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190" name="Google Shape;190;p20"/>
          <p:cNvSpPr txBox="1"/>
          <p:nvPr/>
        </p:nvSpPr>
        <p:spPr>
          <a:xfrm>
            <a:off x="762000" y="2705100"/>
            <a:ext cx="50482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Estatus: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Dominio finito {Activo, Baja, Egresado}.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762000" y="3390900"/>
            <a:ext cx="48577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Cálculo de Atributo Derivado:</a:t>
            </a:r>
            <a:endParaRPr/>
          </a:p>
        </p:txBody>
      </p:sp>
      <p:pic>
        <p:nvPicPr>
          <p:cNvPr descr="image.png" id="192" name="Google Shape;192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62000" y="3651795"/>
            <a:ext cx="4857750" cy="280689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0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Clase Alumno: Perfil Académico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0" name="Google Shape;20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0" y="2219325"/>
            <a:ext cx="333375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 txBox="1"/>
          <p:nvPr/>
        </p:nvSpPr>
        <p:spPr>
          <a:xfrm>
            <a:off x="6381750" y="2781300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Atributos de Especialización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6381750" y="3019425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El docente requiere atributos que gestionen su carga horaria y su expertise académico:</a:t>
            </a:r>
            <a:endParaRPr/>
          </a:p>
        </p:txBody>
      </p:sp>
      <p:pic>
        <p:nvPicPr>
          <p:cNvPr descr="image.png" id="203" name="Google Shape;203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619250" y="2314575"/>
            <a:ext cx="3143250" cy="314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6315075" y="37719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6381750" y="37719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ID_Empleado: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Identificador único.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315075" y="40767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6381750" y="40767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Grado_Academico: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{PhD, MSc, Lic}.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6315075" y="43815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09" name="Google Shape;209;p21"/>
          <p:cNvSpPr txBox="1"/>
          <p:nvPr/>
        </p:nvSpPr>
        <p:spPr>
          <a:xfrm>
            <a:off x="6381750" y="43815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Teléfonos: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Atributo Multivaluado.</a:t>
            </a:r>
            <a:endParaRPr/>
          </a:p>
        </p:txBody>
      </p:sp>
      <p:sp>
        <p:nvSpPr>
          <p:cNvPr id="210" name="Google Shape;210;p21"/>
          <p:cNvSpPr txBox="1"/>
          <p:nvPr/>
        </p:nvSpPr>
        <p:spPr>
          <a:xfrm>
            <a:off x="6315075" y="4686300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11" name="Google Shape;211;p21"/>
          <p:cNvSpPr txBox="1"/>
          <p:nvPr/>
        </p:nvSpPr>
        <p:spPr>
          <a:xfrm>
            <a:off x="6381750" y="4686300"/>
            <a:ext cx="52387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Sueldo:</a:t>
            </a: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 Atributo con restricción de rango positivo.</a:t>
            </a:r>
            <a:endParaRPr/>
          </a:p>
        </p:txBody>
      </p:sp>
      <p:sp>
        <p:nvSpPr>
          <p:cNvPr id="212" name="Google Shape;212;p21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Clase Docente: Gestión Laboral</a:t>
            </a:r>
            <a:endParaRPr/>
          </a:p>
        </p:txBody>
      </p:sp>
      <p:sp>
        <p:nvSpPr>
          <p:cNvPr id="213" name="Google Shape;213;p21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05037"/>
            <a:ext cx="4953000" cy="33623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2"/>
          <p:cNvSpPr txBox="1"/>
          <p:nvPr/>
        </p:nvSpPr>
        <p:spPr>
          <a:xfrm>
            <a:off x="762000" y="571500"/>
            <a:ext cx="50006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Clase Materia</a:t>
            </a:r>
            <a:endParaRPr/>
          </a:p>
        </p:txBody>
      </p:sp>
      <p:sp>
        <p:nvSpPr>
          <p:cNvPr id="221" name="Google Shape;221;p22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2" name="Google Shape;22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762000" y="2395537"/>
            <a:ext cx="4800600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Atributos de Contenido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762000" y="2633662"/>
            <a:ext cx="4572000" cy="12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La clase Materia es una entidad de catálogo que define la estructura curricular. Sus atributos suelen ser estáticos pero críticos para la validación de inscripciones.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762000" y="38528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Atributos Clave: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695325" y="41576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27" name="Google Shape;227;p22"/>
          <p:cNvSpPr txBox="1"/>
          <p:nvPr/>
        </p:nvSpPr>
        <p:spPr>
          <a:xfrm>
            <a:off x="762000" y="41576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Código_Materia (PK)</a:t>
            </a:r>
            <a:endParaRPr/>
          </a:p>
        </p:txBody>
      </p:sp>
      <p:sp>
        <p:nvSpPr>
          <p:cNvPr id="228" name="Google Shape;228;p22"/>
          <p:cNvSpPr txBox="1"/>
          <p:nvPr/>
        </p:nvSpPr>
        <p:spPr>
          <a:xfrm>
            <a:off x="695325" y="44624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29" name="Google Shape;229;p22"/>
          <p:cNvSpPr txBox="1"/>
          <p:nvPr/>
        </p:nvSpPr>
        <p:spPr>
          <a:xfrm>
            <a:off x="762000" y="44624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Créditos (Entero)</a:t>
            </a:r>
            <a:endParaRPr/>
          </a:p>
        </p:txBody>
      </p:sp>
      <p:sp>
        <p:nvSpPr>
          <p:cNvPr id="230" name="Google Shape;230;p22"/>
          <p:cNvSpPr txBox="1"/>
          <p:nvPr/>
        </p:nvSpPr>
        <p:spPr>
          <a:xfrm>
            <a:off x="695325" y="47672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31" name="Google Shape;231;p22"/>
          <p:cNvSpPr txBox="1"/>
          <p:nvPr/>
        </p:nvSpPr>
        <p:spPr>
          <a:xfrm>
            <a:off x="762000" y="47672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Temario (Documento/Text)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695325" y="5072062"/>
            <a:ext cx="666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•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762000" y="5072062"/>
            <a:ext cx="4572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666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Es_Obligatoria (Booleano)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85900"/>
            <a:ext cx="11049000" cy="4800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571500" y="4700587"/>
            <a:ext cx="11049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Análisis de frecuencia: La mayoría de los atributos en sistemas educativos son de tipo Simple (String/Int), mientras que los Multivaluados suelen normalizarse en tablas separadas en el diseño físico.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762000" y="571500"/>
            <a:ext cx="11401425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Distribución de Tipos de Atributos</a:t>
            </a:r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571500" y="571500"/>
            <a:ext cx="76200" cy="533400"/>
          </a:xfrm>
          <a:prstGeom prst="rect">
            <a:avLst/>
          </a:prstGeom>
          <a:solidFill>
            <a:srgbClr val="004D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7" name="Google Shape;24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24"/>
          <p:cNvSpPr txBox="1"/>
          <p:nvPr/>
        </p:nvSpPr>
        <p:spPr>
          <a:xfrm>
            <a:off x="3820715" y="2343150"/>
            <a:ext cx="4550568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4D40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¿Preguntas?</a:t>
            </a:r>
            <a:endParaRPr/>
          </a:p>
        </p:txBody>
      </p:sp>
      <p:sp>
        <p:nvSpPr>
          <p:cNvPr id="249" name="Google Shape;249;p24"/>
          <p:cNvSpPr txBox="1"/>
          <p:nvPr/>
        </p:nvSpPr>
        <p:spPr>
          <a:xfrm>
            <a:off x="3729037" y="3552825"/>
            <a:ext cx="47339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455A64"/>
                </a:solidFill>
                <a:latin typeface="Roboto"/>
                <a:ea typeface="Roboto"/>
                <a:cs typeface="Roboto"/>
                <a:sym typeface="Roboto"/>
              </a:rPr>
              <a:t>Gracias por su atención sobre el modelado de atributos.</a:t>
            </a:r>
            <a:endParaRPr/>
          </a:p>
        </p:txBody>
      </p:sp>
      <p:sp>
        <p:nvSpPr>
          <p:cNvPr id="250" name="Google Shape;250;p24"/>
          <p:cNvSpPr txBox="1"/>
          <p:nvPr/>
        </p:nvSpPr>
        <p:spPr>
          <a:xfrm>
            <a:off x="4095750" y="4333875"/>
            <a:ext cx="40005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4D40"/>
                </a:solidFill>
                <a:latin typeface="Roboto"/>
                <a:ea typeface="Roboto"/>
                <a:cs typeface="Roboto"/>
                <a:sym typeface="Roboto"/>
              </a:rPr>
              <a:t>SESIÓN DE CIERRE | FUNDAMENTOS DE BASES DE DATOS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