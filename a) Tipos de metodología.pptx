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91AA86-0CAC-4FAE-9981-42A730BE318B}" v="33" dt="2026-03-02T01:57:11.3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80" d="100"/>
          <a:sy n="80" d="100"/>
        </p:scale>
        <p:origin x="3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image" Target="../media/image14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image" Target="../media/image14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F2CAAB-D7FC-4ABA-8521-6369292F93DB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C61CF2C-8173-4AEF-A164-E55E891602C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s-ES" sz="40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Características:</a:t>
          </a:r>
          <a:endParaRPr lang="en-US" sz="4000" dirty="0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gm:t>
    </dgm:pt>
    <dgm:pt modelId="{0E4873E8-369E-47E9-B69E-C7A16AB8317C}" type="parTrans" cxnId="{3E9D3331-7DC2-4F1F-8E97-C6E1B4F57BAF}">
      <dgm:prSet/>
      <dgm:spPr/>
      <dgm:t>
        <a:bodyPr/>
        <a:lstStyle/>
        <a:p>
          <a:endParaRPr lang="en-US"/>
        </a:p>
      </dgm:t>
    </dgm:pt>
    <dgm:pt modelId="{4A069533-B6F0-4634-A89A-644E2EDAC2C9}" type="sibTrans" cxnId="{3E9D3331-7DC2-4F1F-8E97-C6E1B4F57BAF}">
      <dgm:prSet/>
      <dgm:spPr/>
      <dgm:t>
        <a:bodyPr/>
        <a:lstStyle/>
        <a:p>
          <a:endParaRPr lang="en-US"/>
        </a:p>
      </dgm:t>
    </dgm:pt>
    <dgm:pt modelId="{EB491E81-23B2-4CB2-B8DF-EE1FAAD5B244}" type="pres">
      <dgm:prSet presAssocID="{33F2CAAB-D7FC-4ABA-8521-6369292F93DB}" presName="root" presStyleCnt="0">
        <dgm:presLayoutVars>
          <dgm:dir/>
          <dgm:resizeHandles val="exact"/>
        </dgm:presLayoutVars>
      </dgm:prSet>
      <dgm:spPr/>
    </dgm:pt>
    <dgm:pt modelId="{3737A8C5-C473-4D62-81F5-1D737B409FDA}" type="pres">
      <dgm:prSet presAssocID="{4C61CF2C-8173-4AEF-A164-E55E891602C8}" presName="compNode" presStyleCnt="0"/>
      <dgm:spPr/>
    </dgm:pt>
    <dgm:pt modelId="{C128D89F-A6E5-4E3E-B4AD-D8D1D17B2060}" type="pres">
      <dgm:prSet presAssocID="{4C61CF2C-8173-4AEF-A164-E55E891602C8}" presName="bgRect" presStyleLbl="bgShp" presStyleIdx="0" presStyleCnt="1" custLinFactNeighborX="-17376" custLinFactNeighborY="-11752"/>
      <dgm:spPr/>
    </dgm:pt>
    <dgm:pt modelId="{BF7A1892-75F2-48F0-B919-9FEFDAC90557}" type="pres">
      <dgm:prSet presAssocID="{4C61CF2C-8173-4AEF-A164-E55E891602C8}" presName="iconRect" presStyleLbl="node1" presStyleIdx="0" presStyleCnt="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64BF91FC-03FE-4346-AF17-6994C791229F}" type="pres">
      <dgm:prSet presAssocID="{4C61CF2C-8173-4AEF-A164-E55E891602C8}" presName="spaceRect" presStyleCnt="0"/>
      <dgm:spPr/>
    </dgm:pt>
    <dgm:pt modelId="{EEF1A1EC-0BB6-4013-8346-1D9372F52BB2}" type="pres">
      <dgm:prSet presAssocID="{4C61CF2C-8173-4AEF-A164-E55E891602C8}" presName="parTx" presStyleLbl="revTx" presStyleIdx="0" presStyleCnt="1">
        <dgm:presLayoutVars>
          <dgm:chMax val="0"/>
          <dgm:chPref val="0"/>
        </dgm:presLayoutVars>
      </dgm:prSet>
      <dgm:spPr/>
    </dgm:pt>
  </dgm:ptLst>
  <dgm:cxnLst>
    <dgm:cxn modelId="{3E9D3331-7DC2-4F1F-8E97-C6E1B4F57BAF}" srcId="{33F2CAAB-D7FC-4ABA-8521-6369292F93DB}" destId="{4C61CF2C-8173-4AEF-A164-E55E891602C8}" srcOrd="0" destOrd="0" parTransId="{0E4873E8-369E-47E9-B69E-C7A16AB8317C}" sibTransId="{4A069533-B6F0-4634-A89A-644E2EDAC2C9}"/>
    <dgm:cxn modelId="{D879F23E-2CD4-4351-9E76-820ADA3A7809}" type="presOf" srcId="{33F2CAAB-D7FC-4ABA-8521-6369292F93DB}" destId="{EB491E81-23B2-4CB2-B8DF-EE1FAAD5B244}" srcOrd="0" destOrd="0" presId="urn:microsoft.com/office/officeart/2018/2/layout/IconVerticalSolidList"/>
    <dgm:cxn modelId="{A8F76C64-5C28-43EF-AB49-AF188F451AF9}" type="presOf" srcId="{4C61CF2C-8173-4AEF-A164-E55E891602C8}" destId="{EEF1A1EC-0BB6-4013-8346-1D9372F52BB2}" srcOrd="0" destOrd="0" presId="urn:microsoft.com/office/officeart/2018/2/layout/IconVerticalSolidList"/>
    <dgm:cxn modelId="{75A2FFED-ABE1-4EAD-9CE8-80F120B75BE4}" type="presParOf" srcId="{EB491E81-23B2-4CB2-B8DF-EE1FAAD5B244}" destId="{3737A8C5-C473-4D62-81F5-1D737B409FDA}" srcOrd="0" destOrd="0" presId="urn:microsoft.com/office/officeart/2018/2/layout/IconVerticalSolidList"/>
    <dgm:cxn modelId="{F6231D11-F812-4825-9BCA-510C801E3F4F}" type="presParOf" srcId="{3737A8C5-C473-4D62-81F5-1D737B409FDA}" destId="{C128D89F-A6E5-4E3E-B4AD-D8D1D17B2060}" srcOrd="0" destOrd="0" presId="urn:microsoft.com/office/officeart/2018/2/layout/IconVerticalSolidList"/>
    <dgm:cxn modelId="{274F38C1-ECBE-485E-A560-F33671A6A3A4}" type="presParOf" srcId="{3737A8C5-C473-4D62-81F5-1D737B409FDA}" destId="{BF7A1892-75F2-48F0-B919-9FEFDAC90557}" srcOrd="1" destOrd="0" presId="urn:microsoft.com/office/officeart/2018/2/layout/IconVerticalSolidList"/>
    <dgm:cxn modelId="{D2F32F37-4536-4557-B9D2-3326637CEFEB}" type="presParOf" srcId="{3737A8C5-C473-4D62-81F5-1D737B409FDA}" destId="{64BF91FC-03FE-4346-AF17-6994C791229F}" srcOrd="2" destOrd="0" presId="urn:microsoft.com/office/officeart/2018/2/layout/IconVerticalSolidList"/>
    <dgm:cxn modelId="{40A681A7-B976-446F-A736-863501D1898A}" type="presParOf" srcId="{3737A8C5-C473-4D62-81F5-1D737B409FDA}" destId="{EEF1A1EC-0BB6-4013-8346-1D9372F52BB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73D64F-D976-4413-9DB8-2A839DF29BC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28C1869A-5E51-475C-AD3B-945261325B38}">
      <dgm:prSet custT="1"/>
      <dgm:spPr/>
      <dgm:t>
        <a:bodyPr/>
        <a:lstStyle/>
        <a:p>
          <a:r>
            <a:rPr lang="es-SV" sz="2000" b="1" dirty="0">
              <a:latin typeface="Aptos Slab Light" panose="020B0004020202020204" pitchFamily="34" charset="0"/>
            </a:rPr>
            <a:t>Eventos:</a:t>
          </a:r>
          <a:endParaRPr lang="en-US" sz="2000" dirty="0">
            <a:latin typeface="Aptos Slab Light" panose="020B0004020202020204" pitchFamily="34" charset="0"/>
          </a:endParaRPr>
        </a:p>
      </dgm:t>
    </dgm:pt>
    <dgm:pt modelId="{1C9DADDB-D20F-4D4F-8032-EEE83F1EA80F}" type="parTrans" cxnId="{8E9406FB-BBCB-44A6-9B21-E2ED15FCDAF9}">
      <dgm:prSet/>
      <dgm:spPr/>
      <dgm:t>
        <a:bodyPr/>
        <a:lstStyle/>
        <a:p>
          <a:endParaRPr lang="en-US"/>
        </a:p>
      </dgm:t>
    </dgm:pt>
    <dgm:pt modelId="{94270EE3-7B17-42CA-BAAF-24F276685F14}" type="sibTrans" cxnId="{8E9406FB-BBCB-44A6-9B21-E2ED15FCDAF9}">
      <dgm:prSet/>
      <dgm:spPr/>
      <dgm:t>
        <a:bodyPr/>
        <a:lstStyle/>
        <a:p>
          <a:endParaRPr lang="en-US"/>
        </a:p>
      </dgm:t>
    </dgm:pt>
    <dgm:pt modelId="{CA6E26A9-F677-4FF9-B6C6-67311C054BDF}">
      <dgm:prSet custT="1"/>
      <dgm:spPr/>
      <dgm:t>
        <a:bodyPr/>
        <a:lstStyle/>
        <a:p>
          <a:r>
            <a:rPr lang="es-SV" sz="2000" b="1" dirty="0">
              <a:latin typeface="Aptos Slab Light" panose="020B0004020202020204" pitchFamily="34" charset="0"/>
            </a:rPr>
            <a:t>-Sprint (2 a 4 semanas)Reunión diaria</a:t>
          </a:r>
          <a:endParaRPr lang="en-US" sz="2000" dirty="0">
            <a:latin typeface="Aptos Slab Light" panose="020B0004020202020204" pitchFamily="34" charset="0"/>
          </a:endParaRPr>
        </a:p>
      </dgm:t>
    </dgm:pt>
    <dgm:pt modelId="{447D7EE5-0AFE-4D76-8026-E1CF6C50C2C7}" type="parTrans" cxnId="{2FF4B1BC-1A9D-43A5-BF46-979F679AD98D}">
      <dgm:prSet/>
      <dgm:spPr/>
      <dgm:t>
        <a:bodyPr/>
        <a:lstStyle/>
        <a:p>
          <a:endParaRPr lang="en-US"/>
        </a:p>
      </dgm:t>
    </dgm:pt>
    <dgm:pt modelId="{AE856F3D-5631-4C47-88BF-3B92D54C00E7}" type="sibTrans" cxnId="{2FF4B1BC-1A9D-43A5-BF46-979F679AD98D}">
      <dgm:prSet/>
      <dgm:spPr/>
      <dgm:t>
        <a:bodyPr/>
        <a:lstStyle/>
        <a:p>
          <a:endParaRPr lang="en-US"/>
        </a:p>
      </dgm:t>
    </dgm:pt>
    <dgm:pt modelId="{E8E292EF-8367-4E3F-941C-EBE38B06969E}">
      <dgm:prSet custT="1"/>
      <dgm:spPr/>
      <dgm:t>
        <a:bodyPr/>
        <a:lstStyle/>
        <a:p>
          <a:r>
            <a:rPr lang="es-SV" sz="2000" b="1" dirty="0">
              <a:latin typeface="Aptos Slab Light" panose="020B0004020202020204" pitchFamily="34" charset="0"/>
            </a:rPr>
            <a:t>(Daily Scrum)Revisión del SprintRetrospectiva</a:t>
          </a:r>
          <a:endParaRPr lang="en-US" sz="2000" dirty="0">
            <a:latin typeface="Aptos Slab Light" panose="020B0004020202020204" pitchFamily="34" charset="0"/>
          </a:endParaRPr>
        </a:p>
      </dgm:t>
    </dgm:pt>
    <dgm:pt modelId="{53AF8417-EA4F-4B23-B69D-BAE9FD5003E8}" type="parTrans" cxnId="{0D02425B-22DE-494A-BB96-51D06E157EA8}">
      <dgm:prSet/>
      <dgm:spPr/>
      <dgm:t>
        <a:bodyPr/>
        <a:lstStyle/>
        <a:p>
          <a:endParaRPr lang="en-US"/>
        </a:p>
      </dgm:t>
    </dgm:pt>
    <dgm:pt modelId="{974C699E-60CF-415A-922D-3393A928E5E2}" type="sibTrans" cxnId="{0D02425B-22DE-494A-BB96-51D06E157EA8}">
      <dgm:prSet/>
      <dgm:spPr/>
      <dgm:t>
        <a:bodyPr/>
        <a:lstStyle/>
        <a:p>
          <a:endParaRPr lang="en-US"/>
        </a:p>
      </dgm:t>
    </dgm:pt>
    <dgm:pt modelId="{2480CF51-6235-4615-8164-069578B22D2D}">
      <dgm:prSet custT="1"/>
      <dgm:spPr/>
      <dgm:t>
        <a:bodyPr/>
        <a:lstStyle/>
        <a:p>
          <a:r>
            <a:rPr lang="es-SV" sz="2000" b="1" dirty="0">
              <a:latin typeface="Aptos Slab Light" panose="020B0004020202020204" pitchFamily="34" charset="0"/>
            </a:rPr>
            <a:t>-Artefactos:Product Backlog (lista de tareas)Sprint BacklogIncremento (producto terminado)</a:t>
          </a:r>
          <a:endParaRPr lang="en-US" sz="2000" dirty="0">
            <a:latin typeface="Aptos Slab Light" panose="020B0004020202020204" pitchFamily="34" charset="0"/>
          </a:endParaRPr>
        </a:p>
      </dgm:t>
    </dgm:pt>
    <dgm:pt modelId="{AF99686A-A8C3-4F4F-85ED-4606E2485742}" type="parTrans" cxnId="{27618804-6BD9-4445-8946-FE4BC93CAF08}">
      <dgm:prSet/>
      <dgm:spPr/>
      <dgm:t>
        <a:bodyPr/>
        <a:lstStyle/>
        <a:p>
          <a:endParaRPr lang="en-US"/>
        </a:p>
      </dgm:t>
    </dgm:pt>
    <dgm:pt modelId="{16ACC1BC-2A1C-49D7-A234-C092D7B20E8B}" type="sibTrans" cxnId="{27618804-6BD9-4445-8946-FE4BC93CAF08}">
      <dgm:prSet/>
      <dgm:spPr/>
      <dgm:t>
        <a:bodyPr/>
        <a:lstStyle/>
        <a:p>
          <a:endParaRPr lang="en-US"/>
        </a:p>
      </dgm:t>
    </dgm:pt>
    <dgm:pt modelId="{C101BBC2-DCB2-4CCE-8E9B-F2B0EBB80CB6}" type="pres">
      <dgm:prSet presAssocID="{C573D64F-D976-4413-9DB8-2A839DF29BCB}" presName="root" presStyleCnt="0">
        <dgm:presLayoutVars>
          <dgm:dir/>
          <dgm:resizeHandles val="exact"/>
        </dgm:presLayoutVars>
      </dgm:prSet>
      <dgm:spPr/>
    </dgm:pt>
    <dgm:pt modelId="{DA83764C-2B1C-44A7-AD4E-A26C16C03F02}" type="pres">
      <dgm:prSet presAssocID="{28C1869A-5E51-475C-AD3B-945261325B38}" presName="compNode" presStyleCnt="0"/>
      <dgm:spPr/>
    </dgm:pt>
    <dgm:pt modelId="{8AF1DF90-19FD-48F4-821B-30358C249C19}" type="pres">
      <dgm:prSet presAssocID="{28C1869A-5E51-475C-AD3B-945261325B38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estive Lantern"/>
        </a:ext>
      </dgm:extLst>
    </dgm:pt>
    <dgm:pt modelId="{028CE51A-51FD-475D-BCB7-8893582C6405}" type="pres">
      <dgm:prSet presAssocID="{28C1869A-5E51-475C-AD3B-945261325B38}" presName="spaceRect" presStyleCnt="0"/>
      <dgm:spPr/>
    </dgm:pt>
    <dgm:pt modelId="{45DBE813-5753-46D5-A3A3-2FE5516E8EC4}" type="pres">
      <dgm:prSet presAssocID="{28C1869A-5E51-475C-AD3B-945261325B38}" presName="textRect" presStyleLbl="revTx" presStyleIdx="0" presStyleCnt="4">
        <dgm:presLayoutVars>
          <dgm:chMax val="1"/>
          <dgm:chPref val="1"/>
        </dgm:presLayoutVars>
      </dgm:prSet>
      <dgm:spPr/>
    </dgm:pt>
    <dgm:pt modelId="{178F3FB4-5721-4A6E-9C85-03FA04641BFD}" type="pres">
      <dgm:prSet presAssocID="{94270EE3-7B17-42CA-BAAF-24F276685F14}" presName="sibTrans" presStyleCnt="0"/>
      <dgm:spPr/>
    </dgm:pt>
    <dgm:pt modelId="{6CE86A0B-581B-4D47-BBEB-A47E32FB6133}" type="pres">
      <dgm:prSet presAssocID="{CA6E26A9-F677-4FF9-B6C6-67311C054BDF}" presName="compNode" presStyleCnt="0"/>
      <dgm:spPr/>
    </dgm:pt>
    <dgm:pt modelId="{DE244E4D-3E71-49B2-ABAB-BD31BAD1BE95}" type="pres">
      <dgm:prSet presAssocID="{CA6E26A9-F677-4FF9-B6C6-67311C054BD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jecutar"/>
        </a:ext>
      </dgm:extLst>
    </dgm:pt>
    <dgm:pt modelId="{A21F8492-E321-42D9-BE03-FF93D233A931}" type="pres">
      <dgm:prSet presAssocID="{CA6E26A9-F677-4FF9-B6C6-67311C054BDF}" presName="spaceRect" presStyleCnt="0"/>
      <dgm:spPr/>
    </dgm:pt>
    <dgm:pt modelId="{A4BAAC1B-8872-4677-8AD7-DFFD024C13C5}" type="pres">
      <dgm:prSet presAssocID="{CA6E26A9-F677-4FF9-B6C6-67311C054BDF}" presName="textRect" presStyleLbl="revTx" presStyleIdx="1" presStyleCnt="4">
        <dgm:presLayoutVars>
          <dgm:chMax val="1"/>
          <dgm:chPref val="1"/>
        </dgm:presLayoutVars>
      </dgm:prSet>
      <dgm:spPr/>
    </dgm:pt>
    <dgm:pt modelId="{4784E28A-CE58-4C57-B8D4-5A0B6561CA4B}" type="pres">
      <dgm:prSet presAssocID="{AE856F3D-5631-4C47-88BF-3B92D54C00E7}" presName="sibTrans" presStyleCnt="0"/>
      <dgm:spPr/>
    </dgm:pt>
    <dgm:pt modelId="{CF18E1AE-B9E0-4ACC-B0AB-6788DB08EA1F}" type="pres">
      <dgm:prSet presAssocID="{E8E292EF-8367-4E3F-941C-EBE38B06969E}" presName="compNode" presStyleCnt="0"/>
      <dgm:spPr/>
    </dgm:pt>
    <dgm:pt modelId="{87527523-7261-44C0-9B8E-0F736ACCDAF3}" type="pres">
      <dgm:prSet presAssocID="{E8E292EF-8367-4E3F-941C-EBE38B06969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s"/>
        </a:ext>
      </dgm:extLst>
    </dgm:pt>
    <dgm:pt modelId="{E5D005FE-96DB-4412-AAE4-CFE19F90E549}" type="pres">
      <dgm:prSet presAssocID="{E8E292EF-8367-4E3F-941C-EBE38B06969E}" presName="spaceRect" presStyleCnt="0"/>
      <dgm:spPr/>
    </dgm:pt>
    <dgm:pt modelId="{94556C2B-2FAA-42CE-8F85-E77F8ABEF3B0}" type="pres">
      <dgm:prSet presAssocID="{E8E292EF-8367-4E3F-941C-EBE38B06969E}" presName="textRect" presStyleLbl="revTx" presStyleIdx="2" presStyleCnt="4">
        <dgm:presLayoutVars>
          <dgm:chMax val="1"/>
          <dgm:chPref val="1"/>
        </dgm:presLayoutVars>
      </dgm:prSet>
      <dgm:spPr/>
    </dgm:pt>
    <dgm:pt modelId="{CAB3DA7F-23C1-4EF6-8257-7498CCB111DB}" type="pres">
      <dgm:prSet presAssocID="{974C699E-60CF-415A-922D-3393A928E5E2}" presName="sibTrans" presStyleCnt="0"/>
      <dgm:spPr/>
    </dgm:pt>
    <dgm:pt modelId="{C84739DE-8EF5-47C5-9AF2-40F27E416297}" type="pres">
      <dgm:prSet presAssocID="{2480CF51-6235-4615-8164-069578B22D2D}" presName="compNode" presStyleCnt="0"/>
      <dgm:spPr/>
    </dgm:pt>
    <dgm:pt modelId="{DBCDDCF6-0C70-4C55-9747-E43CADB1EB81}" type="pres">
      <dgm:prSet presAssocID="{2480CF51-6235-4615-8164-069578B22D2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sta de comprobación"/>
        </a:ext>
      </dgm:extLst>
    </dgm:pt>
    <dgm:pt modelId="{1FA33CB6-5B15-462A-A379-D2D0886CEE30}" type="pres">
      <dgm:prSet presAssocID="{2480CF51-6235-4615-8164-069578B22D2D}" presName="spaceRect" presStyleCnt="0"/>
      <dgm:spPr/>
    </dgm:pt>
    <dgm:pt modelId="{C586FC6B-C839-4CD7-A92E-5F3AED7BBCB6}" type="pres">
      <dgm:prSet presAssocID="{2480CF51-6235-4615-8164-069578B22D2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7618804-6BD9-4445-8946-FE4BC93CAF08}" srcId="{C573D64F-D976-4413-9DB8-2A839DF29BCB}" destId="{2480CF51-6235-4615-8164-069578B22D2D}" srcOrd="3" destOrd="0" parTransId="{AF99686A-A8C3-4F4F-85ED-4606E2485742}" sibTransId="{16ACC1BC-2A1C-49D7-A234-C092D7B20E8B}"/>
    <dgm:cxn modelId="{176DBE07-677B-4C56-A0D1-C1064BDA2A8C}" type="presOf" srcId="{E8E292EF-8367-4E3F-941C-EBE38B06969E}" destId="{94556C2B-2FAA-42CE-8F85-E77F8ABEF3B0}" srcOrd="0" destOrd="0" presId="urn:microsoft.com/office/officeart/2018/2/layout/IconLabelList"/>
    <dgm:cxn modelId="{8CFA651B-1F37-4FF3-83E2-4452811CA3F2}" type="presOf" srcId="{C573D64F-D976-4413-9DB8-2A839DF29BCB}" destId="{C101BBC2-DCB2-4CCE-8E9B-F2B0EBB80CB6}" srcOrd="0" destOrd="0" presId="urn:microsoft.com/office/officeart/2018/2/layout/IconLabelList"/>
    <dgm:cxn modelId="{CA140330-8913-45EB-95B7-B2F24323EF46}" type="presOf" srcId="{CA6E26A9-F677-4FF9-B6C6-67311C054BDF}" destId="{A4BAAC1B-8872-4677-8AD7-DFFD024C13C5}" srcOrd="0" destOrd="0" presId="urn:microsoft.com/office/officeart/2018/2/layout/IconLabelList"/>
    <dgm:cxn modelId="{0D02425B-22DE-494A-BB96-51D06E157EA8}" srcId="{C573D64F-D976-4413-9DB8-2A839DF29BCB}" destId="{E8E292EF-8367-4E3F-941C-EBE38B06969E}" srcOrd="2" destOrd="0" parTransId="{53AF8417-EA4F-4B23-B69D-BAE9FD5003E8}" sibTransId="{974C699E-60CF-415A-922D-3393A928E5E2}"/>
    <dgm:cxn modelId="{8E73C153-A9B5-4EC9-AA06-53A4BFCB77CC}" type="presOf" srcId="{28C1869A-5E51-475C-AD3B-945261325B38}" destId="{45DBE813-5753-46D5-A3A3-2FE5516E8EC4}" srcOrd="0" destOrd="0" presId="urn:microsoft.com/office/officeart/2018/2/layout/IconLabelList"/>
    <dgm:cxn modelId="{2FF4B1BC-1A9D-43A5-BF46-979F679AD98D}" srcId="{C573D64F-D976-4413-9DB8-2A839DF29BCB}" destId="{CA6E26A9-F677-4FF9-B6C6-67311C054BDF}" srcOrd="1" destOrd="0" parTransId="{447D7EE5-0AFE-4D76-8026-E1CF6C50C2C7}" sibTransId="{AE856F3D-5631-4C47-88BF-3B92D54C00E7}"/>
    <dgm:cxn modelId="{97EE24E0-7614-418D-91E3-A6E0655E3FE5}" type="presOf" srcId="{2480CF51-6235-4615-8164-069578B22D2D}" destId="{C586FC6B-C839-4CD7-A92E-5F3AED7BBCB6}" srcOrd="0" destOrd="0" presId="urn:microsoft.com/office/officeart/2018/2/layout/IconLabelList"/>
    <dgm:cxn modelId="{8E9406FB-BBCB-44A6-9B21-E2ED15FCDAF9}" srcId="{C573D64F-D976-4413-9DB8-2A839DF29BCB}" destId="{28C1869A-5E51-475C-AD3B-945261325B38}" srcOrd="0" destOrd="0" parTransId="{1C9DADDB-D20F-4D4F-8032-EEE83F1EA80F}" sibTransId="{94270EE3-7B17-42CA-BAAF-24F276685F14}"/>
    <dgm:cxn modelId="{12A992C4-48F1-4D04-AD2F-A16D8C8F5212}" type="presParOf" srcId="{C101BBC2-DCB2-4CCE-8E9B-F2B0EBB80CB6}" destId="{DA83764C-2B1C-44A7-AD4E-A26C16C03F02}" srcOrd="0" destOrd="0" presId="urn:microsoft.com/office/officeart/2018/2/layout/IconLabelList"/>
    <dgm:cxn modelId="{A663CD81-344D-4E4D-BE60-F6665E0A5722}" type="presParOf" srcId="{DA83764C-2B1C-44A7-AD4E-A26C16C03F02}" destId="{8AF1DF90-19FD-48F4-821B-30358C249C19}" srcOrd="0" destOrd="0" presId="urn:microsoft.com/office/officeart/2018/2/layout/IconLabelList"/>
    <dgm:cxn modelId="{E9FB29A8-CE9A-4D0C-8AE6-2779C4B62B83}" type="presParOf" srcId="{DA83764C-2B1C-44A7-AD4E-A26C16C03F02}" destId="{028CE51A-51FD-475D-BCB7-8893582C6405}" srcOrd="1" destOrd="0" presId="urn:microsoft.com/office/officeart/2018/2/layout/IconLabelList"/>
    <dgm:cxn modelId="{F6F967B9-EEA8-4A47-B944-F1EBB5EA4245}" type="presParOf" srcId="{DA83764C-2B1C-44A7-AD4E-A26C16C03F02}" destId="{45DBE813-5753-46D5-A3A3-2FE5516E8EC4}" srcOrd="2" destOrd="0" presId="urn:microsoft.com/office/officeart/2018/2/layout/IconLabelList"/>
    <dgm:cxn modelId="{024B9CD7-D1C0-467A-8AF3-638F22BB4817}" type="presParOf" srcId="{C101BBC2-DCB2-4CCE-8E9B-F2B0EBB80CB6}" destId="{178F3FB4-5721-4A6E-9C85-03FA04641BFD}" srcOrd="1" destOrd="0" presId="urn:microsoft.com/office/officeart/2018/2/layout/IconLabelList"/>
    <dgm:cxn modelId="{270E9661-8A49-42C1-A872-D8BB51EF6D65}" type="presParOf" srcId="{C101BBC2-DCB2-4CCE-8E9B-F2B0EBB80CB6}" destId="{6CE86A0B-581B-4D47-BBEB-A47E32FB6133}" srcOrd="2" destOrd="0" presId="urn:microsoft.com/office/officeart/2018/2/layout/IconLabelList"/>
    <dgm:cxn modelId="{896F5712-D62F-4A26-AF43-4428988A07BD}" type="presParOf" srcId="{6CE86A0B-581B-4D47-BBEB-A47E32FB6133}" destId="{DE244E4D-3E71-49B2-ABAB-BD31BAD1BE95}" srcOrd="0" destOrd="0" presId="urn:microsoft.com/office/officeart/2018/2/layout/IconLabelList"/>
    <dgm:cxn modelId="{5D49AA5D-01E7-44B1-9EB0-629A74DBC041}" type="presParOf" srcId="{6CE86A0B-581B-4D47-BBEB-A47E32FB6133}" destId="{A21F8492-E321-42D9-BE03-FF93D233A931}" srcOrd="1" destOrd="0" presId="urn:microsoft.com/office/officeart/2018/2/layout/IconLabelList"/>
    <dgm:cxn modelId="{1D9B349C-309A-41BF-8465-2CEE878C6F08}" type="presParOf" srcId="{6CE86A0B-581B-4D47-BBEB-A47E32FB6133}" destId="{A4BAAC1B-8872-4677-8AD7-DFFD024C13C5}" srcOrd="2" destOrd="0" presId="urn:microsoft.com/office/officeart/2018/2/layout/IconLabelList"/>
    <dgm:cxn modelId="{FED93D2B-E9CD-4CB3-A44E-4863BA49E697}" type="presParOf" srcId="{C101BBC2-DCB2-4CCE-8E9B-F2B0EBB80CB6}" destId="{4784E28A-CE58-4C57-B8D4-5A0B6561CA4B}" srcOrd="3" destOrd="0" presId="urn:microsoft.com/office/officeart/2018/2/layout/IconLabelList"/>
    <dgm:cxn modelId="{A011B148-6EE6-4345-B5A5-3F6141CD2059}" type="presParOf" srcId="{C101BBC2-DCB2-4CCE-8E9B-F2B0EBB80CB6}" destId="{CF18E1AE-B9E0-4ACC-B0AB-6788DB08EA1F}" srcOrd="4" destOrd="0" presId="urn:microsoft.com/office/officeart/2018/2/layout/IconLabelList"/>
    <dgm:cxn modelId="{EB17A3B1-159A-4943-9B97-83E39D526316}" type="presParOf" srcId="{CF18E1AE-B9E0-4ACC-B0AB-6788DB08EA1F}" destId="{87527523-7261-44C0-9B8E-0F736ACCDAF3}" srcOrd="0" destOrd="0" presId="urn:microsoft.com/office/officeart/2018/2/layout/IconLabelList"/>
    <dgm:cxn modelId="{D7EFEB20-636C-43FC-83E4-F165CC3275FC}" type="presParOf" srcId="{CF18E1AE-B9E0-4ACC-B0AB-6788DB08EA1F}" destId="{E5D005FE-96DB-4412-AAE4-CFE19F90E549}" srcOrd="1" destOrd="0" presId="urn:microsoft.com/office/officeart/2018/2/layout/IconLabelList"/>
    <dgm:cxn modelId="{0A60867E-D2AF-407E-8E92-5A5C93A0B815}" type="presParOf" srcId="{CF18E1AE-B9E0-4ACC-B0AB-6788DB08EA1F}" destId="{94556C2B-2FAA-42CE-8F85-E77F8ABEF3B0}" srcOrd="2" destOrd="0" presId="urn:microsoft.com/office/officeart/2018/2/layout/IconLabelList"/>
    <dgm:cxn modelId="{B4E64070-902A-4211-B4D0-2A499ED7FDEF}" type="presParOf" srcId="{C101BBC2-DCB2-4CCE-8E9B-F2B0EBB80CB6}" destId="{CAB3DA7F-23C1-4EF6-8257-7498CCB111DB}" srcOrd="5" destOrd="0" presId="urn:microsoft.com/office/officeart/2018/2/layout/IconLabelList"/>
    <dgm:cxn modelId="{6B3D6969-476B-4F7C-A252-45A6CAAE404E}" type="presParOf" srcId="{C101BBC2-DCB2-4CCE-8E9B-F2B0EBB80CB6}" destId="{C84739DE-8EF5-47C5-9AF2-40F27E416297}" srcOrd="6" destOrd="0" presId="urn:microsoft.com/office/officeart/2018/2/layout/IconLabelList"/>
    <dgm:cxn modelId="{ECB17507-F4DD-486E-80CE-5669442CE67F}" type="presParOf" srcId="{C84739DE-8EF5-47C5-9AF2-40F27E416297}" destId="{DBCDDCF6-0C70-4C55-9747-E43CADB1EB81}" srcOrd="0" destOrd="0" presId="urn:microsoft.com/office/officeart/2018/2/layout/IconLabelList"/>
    <dgm:cxn modelId="{27AE4960-E06B-42E0-8228-1541C92FA8C9}" type="presParOf" srcId="{C84739DE-8EF5-47C5-9AF2-40F27E416297}" destId="{1FA33CB6-5B15-462A-A379-D2D0886CEE30}" srcOrd="1" destOrd="0" presId="urn:microsoft.com/office/officeart/2018/2/layout/IconLabelList"/>
    <dgm:cxn modelId="{8187DD9B-3A4A-42E9-A282-6B4D28820BD0}" type="presParOf" srcId="{C84739DE-8EF5-47C5-9AF2-40F27E416297}" destId="{C586FC6B-C839-4CD7-A92E-5F3AED7BBCB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28D89F-A6E5-4E3E-B4AD-D8D1D17B2060}">
      <dsp:nvSpPr>
        <dsp:cNvPr id="0" name=""/>
        <dsp:cNvSpPr/>
      </dsp:nvSpPr>
      <dsp:spPr>
        <a:xfrm>
          <a:off x="0" y="2224"/>
          <a:ext cx="6093500" cy="84438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7A1892-75F2-48F0-B919-9FEFDAC90557}">
      <dsp:nvSpPr>
        <dsp:cNvPr id="0" name=""/>
        <dsp:cNvSpPr/>
      </dsp:nvSpPr>
      <dsp:spPr>
        <a:xfrm>
          <a:off x="255425" y="291442"/>
          <a:ext cx="464409" cy="4644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F1A1EC-0BB6-4013-8346-1D9372F52BB2}">
      <dsp:nvSpPr>
        <dsp:cNvPr id="0" name=""/>
        <dsp:cNvSpPr/>
      </dsp:nvSpPr>
      <dsp:spPr>
        <a:xfrm>
          <a:off x="975259" y="101456"/>
          <a:ext cx="5118240" cy="8443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9364" tIns="89364" rIns="89364" bIns="89364" numCol="1" spcCol="1270" anchor="ctr" anchorCtr="0">
          <a:noAutofit/>
        </a:bodyPr>
        <a:lstStyle/>
        <a:p>
          <a:pPr marL="0" lvl="0" indent="0" algn="l" defTabSz="1778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4000" kern="12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rPr>
            <a:t>Características:</a:t>
          </a:r>
          <a:endParaRPr lang="en-US" sz="4000" kern="1200" dirty="0">
            <a:latin typeface="ADLaM Display" panose="02010000000000000000" pitchFamily="2" charset="0"/>
            <a:ea typeface="ADLaM Display" panose="02010000000000000000" pitchFamily="2" charset="0"/>
            <a:cs typeface="ADLaM Display" panose="02010000000000000000" pitchFamily="2" charset="0"/>
          </a:endParaRPr>
        </a:p>
      </dsp:txBody>
      <dsp:txXfrm>
        <a:off x="975259" y="101456"/>
        <a:ext cx="5118240" cy="8443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F1DF90-19FD-48F4-821B-30358C249C19}">
      <dsp:nvSpPr>
        <dsp:cNvPr id="0" name=""/>
        <dsp:cNvSpPr/>
      </dsp:nvSpPr>
      <dsp:spPr>
        <a:xfrm>
          <a:off x="1138979" y="483167"/>
          <a:ext cx="932563" cy="93256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DBE813-5753-46D5-A3A3-2FE5516E8EC4}">
      <dsp:nvSpPr>
        <dsp:cNvPr id="0" name=""/>
        <dsp:cNvSpPr/>
      </dsp:nvSpPr>
      <dsp:spPr>
        <a:xfrm>
          <a:off x="569079" y="1925919"/>
          <a:ext cx="2072362" cy="19558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000" b="1" kern="1200" dirty="0">
              <a:latin typeface="Aptos Slab Light" panose="020B0004020202020204" pitchFamily="34" charset="0"/>
            </a:rPr>
            <a:t>Eventos:</a:t>
          </a:r>
          <a:endParaRPr lang="en-US" sz="2000" kern="1200" dirty="0">
            <a:latin typeface="Aptos Slab Light" panose="020B0004020202020204" pitchFamily="34" charset="0"/>
          </a:endParaRPr>
        </a:p>
      </dsp:txBody>
      <dsp:txXfrm>
        <a:off x="569079" y="1925919"/>
        <a:ext cx="2072362" cy="1955869"/>
      </dsp:txXfrm>
    </dsp:sp>
    <dsp:sp modelId="{DE244E4D-3E71-49B2-ABAB-BD31BAD1BE95}">
      <dsp:nvSpPr>
        <dsp:cNvPr id="0" name=""/>
        <dsp:cNvSpPr/>
      </dsp:nvSpPr>
      <dsp:spPr>
        <a:xfrm>
          <a:off x="3574005" y="483167"/>
          <a:ext cx="932563" cy="93256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BAAC1B-8872-4677-8AD7-DFFD024C13C5}">
      <dsp:nvSpPr>
        <dsp:cNvPr id="0" name=""/>
        <dsp:cNvSpPr/>
      </dsp:nvSpPr>
      <dsp:spPr>
        <a:xfrm>
          <a:off x="3004105" y="1925919"/>
          <a:ext cx="2072362" cy="19558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000" b="1" kern="1200" dirty="0">
              <a:latin typeface="Aptos Slab Light" panose="020B0004020202020204" pitchFamily="34" charset="0"/>
            </a:rPr>
            <a:t>-Sprint (2 a 4 semanas)Reunión diaria</a:t>
          </a:r>
          <a:endParaRPr lang="en-US" sz="2000" kern="1200" dirty="0">
            <a:latin typeface="Aptos Slab Light" panose="020B0004020202020204" pitchFamily="34" charset="0"/>
          </a:endParaRPr>
        </a:p>
      </dsp:txBody>
      <dsp:txXfrm>
        <a:off x="3004105" y="1925919"/>
        <a:ext cx="2072362" cy="1955869"/>
      </dsp:txXfrm>
    </dsp:sp>
    <dsp:sp modelId="{87527523-7261-44C0-9B8E-0F736ACCDAF3}">
      <dsp:nvSpPr>
        <dsp:cNvPr id="0" name=""/>
        <dsp:cNvSpPr/>
      </dsp:nvSpPr>
      <dsp:spPr>
        <a:xfrm>
          <a:off x="6009031" y="483167"/>
          <a:ext cx="932563" cy="93256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556C2B-2FAA-42CE-8F85-E77F8ABEF3B0}">
      <dsp:nvSpPr>
        <dsp:cNvPr id="0" name=""/>
        <dsp:cNvSpPr/>
      </dsp:nvSpPr>
      <dsp:spPr>
        <a:xfrm>
          <a:off x="5439131" y="1925919"/>
          <a:ext cx="2072362" cy="19558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000" b="1" kern="1200" dirty="0">
              <a:latin typeface="Aptos Slab Light" panose="020B0004020202020204" pitchFamily="34" charset="0"/>
            </a:rPr>
            <a:t>(Daily Scrum)Revisión del SprintRetrospectiva</a:t>
          </a:r>
          <a:endParaRPr lang="en-US" sz="2000" kern="1200" dirty="0">
            <a:latin typeface="Aptos Slab Light" panose="020B0004020202020204" pitchFamily="34" charset="0"/>
          </a:endParaRPr>
        </a:p>
      </dsp:txBody>
      <dsp:txXfrm>
        <a:off x="5439131" y="1925919"/>
        <a:ext cx="2072362" cy="1955869"/>
      </dsp:txXfrm>
    </dsp:sp>
    <dsp:sp modelId="{DBCDDCF6-0C70-4C55-9747-E43CADB1EB81}">
      <dsp:nvSpPr>
        <dsp:cNvPr id="0" name=""/>
        <dsp:cNvSpPr/>
      </dsp:nvSpPr>
      <dsp:spPr>
        <a:xfrm>
          <a:off x="8444057" y="483167"/>
          <a:ext cx="932563" cy="93256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86FC6B-C839-4CD7-A92E-5F3AED7BBCB6}">
      <dsp:nvSpPr>
        <dsp:cNvPr id="0" name=""/>
        <dsp:cNvSpPr/>
      </dsp:nvSpPr>
      <dsp:spPr>
        <a:xfrm>
          <a:off x="7874157" y="1925919"/>
          <a:ext cx="2072362" cy="19558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SV" sz="2000" b="1" kern="1200" dirty="0">
              <a:latin typeface="Aptos Slab Light" panose="020B0004020202020204" pitchFamily="34" charset="0"/>
            </a:rPr>
            <a:t>-Artefactos:Product Backlog (lista de tareas)Sprint BacklogIncremento (producto terminado)</a:t>
          </a:r>
          <a:endParaRPr lang="en-US" sz="2000" kern="1200" dirty="0">
            <a:latin typeface="Aptos Slab Light" panose="020B0004020202020204" pitchFamily="34" charset="0"/>
          </a:endParaRPr>
        </a:p>
      </dsp:txBody>
      <dsp:txXfrm>
        <a:off x="7874157" y="1925919"/>
        <a:ext cx="2072362" cy="195586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8785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5321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4656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2196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2654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9871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4527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803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218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686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1789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60510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7798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6487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lumna de image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7818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5931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756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3/10/2026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388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  <p:sldLayoutId id="214748376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C196D3-A4C9-4886-46EE-673F64E6AB0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-1" b="15708"/>
          <a:stretch>
            <a:fillRect/>
          </a:stretch>
        </p:blipFill>
        <p:spPr>
          <a:xfrm>
            <a:off x="991562" y="3765885"/>
            <a:ext cx="9668418" cy="2921946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3F60A9B7-1C8B-DAE4-76E5-5A989CA064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674" y="697832"/>
            <a:ext cx="11389894" cy="2478505"/>
          </a:xfrm>
        </p:spPr>
        <p:txBody>
          <a:bodyPr>
            <a:normAutofit fontScale="90000"/>
          </a:bodyPr>
          <a:lstStyle/>
          <a:p>
            <a:pPr algn="ctr"/>
            <a:r>
              <a:rPr lang="es-ES" sz="4400" dirty="0">
                <a:solidFill>
                  <a:srgbClr val="FF0000"/>
                </a:solidFill>
              </a:rPr>
              <a:t>a</a:t>
            </a:r>
            <a:r>
              <a:rPr lang="es-ES" sz="4400" dirty="0">
                <a:solidFill>
                  <a:srgbClr val="FF0000"/>
                </a:solidFill>
                <a:latin typeface="Amasis MT Pro Black" panose="020F0502020204030204" pitchFamily="18" charset="0"/>
              </a:rPr>
              <a:t>)</a:t>
            </a:r>
            <a:r>
              <a:rPr lang="es-ES" sz="8000" dirty="0">
                <a:solidFill>
                  <a:srgbClr val="FF0000"/>
                </a:solidFill>
                <a:latin typeface="Amasis MT Pro Black" panose="020F0502020204030204" pitchFamily="18" charset="0"/>
              </a:rPr>
              <a:t> </a:t>
            </a:r>
            <a:r>
              <a:rPr lang="es-ES" sz="4000" dirty="0">
                <a:solidFill>
                  <a:srgbClr val="FF0000"/>
                </a:solidFill>
                <a:latin typeface="Amasis MT Pro Black" panose="020F0502020204030204" pitchFamily="18" charset="0"/>
              </a:rPr>
              <a:t>Tipos de metodología: </a:t>
            </a:r>
            <a:r>
              <a:rPr lang="es-ES" sz="4000" dirty="0">
                <a:solidFill>
                  <a:srgbClr val="FFFF00"/>
                </a:solidFill>
                <a:latin typeface="Amasis MT Pro Black" panose="020F0502020204030204" pitchFamily="18" charset="0"/>
              </a:rPr>
              <a:t>cascada vs ágil   </a:t>
            </a:r>
            <a:br>
              <a:rPr lang="es-ES" sz="4000" dirty="0">
                <a:solidFill>
                  <a:srgbClr val="FF0000"/>
                </a:solidFill>
                <a:latin typeface="Amasis MT Pro Black" panose="020F0502020204030204" pitchFamily="18" charset="0"/>
              </a:rPr>
            </a:br>
            <a:r>
              <a:rPr lang="es-ES" sz="4000" dirty="0">
                <a:solidFill>
                  <a:srgbClr val="FF0000"/>
                </a:solidFill>
                <a:latin typeface="Amasis MT Pro Black" panose="020F0502020204030204" pitchFamily="18" charset="0"/>
              </a:rPr>
              <a:t>Nombre: </a:t>
            </a:r>
            <a:r>
              <a:rPr lang="es-ES" sz="4000" dirty="0">
                <a:solidFill>
                  <a:srgbClr val="FFFF00"/>
                </a:solidFill>
                <a:latin typeface="Amasis MT Pro Black" panose="020F0502020204030204" pitchFamily="18" charset="0"/>
              </a:rPr>
              <a:t>Naun Emanuel Caballero</a:t>
            </a:r>
            <a:br>
              <a:rPr lang="es-ES" sz="4000" dirty="0">
                <a:solidFill>
                  <a:srgbClr val="FFFF00"/>
                </a:solidFill>
                <a:latin typeface="Amasis MT Pro Black" panose="020F0502020204030204" pitchFamily="18" charset="0"/>
              </a:rPr>
            </a:br>
            <a:br>
              <a:rPr lang="es-ES" sz="4000" dirty="0">
                <a:solidFill>
                  <a:srgbClr val="FFFF00"/>
                </a:solidFill>
                <a:latin typeface="Amasis MT Pro Black" panose="020F0502020204030204" pitchFamily="18" charset="0"/>
              </a:rPr>
            </a:br>
            <a:br>
              <a:rPr lang="es-ES" sz="4000" dirty="0">
                <a:solidFill>
                  <a:srgbClr val="FF0000"/>
                </a:solidFill>
                <a:latin typeface="Amasis MT Pro Black" panose="020F0502020204030204" pitchFamily="18" charset="0"/>
              </a:rPr>
            </a:br>
            <a:endParaRPr lang="es-SV" sz="4000" dirty="0">
              <a:solidFill>
                <a:srgbClr val="FF0000"/>
              </a:solidFill>
              <a:latin typeface="Amasis MT Pro Black" panose="020F0502020204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07164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AF8E671-7856-B2FB-84E3-8BB657E6B7DF}"/>
              </a:ext>
            </a:extLst>
          </p:cNvPr>
          <p:cNvSpPr txBox="1"/>
          <p:nvPr/>
        </p:nvSpPr>
        <p:spPr>
          <a:xfrm>
            <a:off x="8129016" y="1061615"/>
            <a:ext cx="3432048" cy="515630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400" dirty="0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4400" dirty="0">
                <a:solidFill>
                  <a:schemeClr val="accent4"/>
                </a:solidFill>
                <a:latin typeface="Amasis MT Pro Black" panose="02040A04050005020304" pitchFamily="18" charset="0"/>
                <a:cs typeface="Aharoni" panose="02010803020104030203" pitchFamily="2" charset="-79"/>
              </a:rPr>
              <a:t>Metodología en Cascada (Waterfall)</a:t>
            </a:r>
            <a:r>
              <a:rPr lang="en-US" sz="4400" dirty="0">
                <a:latin typeface="Aharoni" panose="02010803020104030203" pitchFamily="2" charset="-79"/>
                <a:cs typeface="Aharoni" panose="02010803020104030203" pitchFamily="2" charset="-79"/>
              </a:rPr>
              <a:t>   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4400" dirty="0">
                <a:latin typeface="Aharoni" panose="02010803020104030203" pitchFamily="2" charset="-79"/>
                <a:cs typeface="Aharoni" panose="02010803020104030203" pitchFamily="2" charset="-79"/>
              </a:rPr>
              <a:t>                                                              </a:t>
            </a:r>
            <a:r>
              <a:rPr lang="en-US" sz="44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Es un modelo tradicional y lineal.Cada fase se completa antes de pasar a la siguiente</a:t>
            </a:r>
            <a:r>
              <a:rPr lang="en-US" sz="2400" dirty="0">
                <a:solidFill>
                  <a:srgbClr val="FF0000"/>
                </a:solidFill>
              </a:rPr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2E6E03E-9C0A-A682-A0F5-8D6BC6B13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850847"/>
            <a:ext cx="6903720" cy="5156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7743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0C072DC3-4963-2F9C-8CB0-89BC70EE3C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714" y="2001599"/>
            <a:ext cx="3368969" cy="3047308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B7BFDDF-0A86-A7D4-AF42-1989B1A668ED}"/>
              </a:ext>
            </a:extLst>
          </p:cNvPr>
          <p:cNvSpPr txBox="1"/>
          <p:nvPr/>
        </p:nvSpPr>
        <p:spPr>
          <a:xfrm>
            <a:off x="5892704" y="554636"/>
            <a:ext cx="5461095" cy="5346245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000" dirty="0">
                <a:latin typeface="Amasis MT Pro Black" panose="02040A04050005020304" pitchFamily="18" charset="0"/>
              </a:rPr>
              <a:t>Fases:</a:t>
            </a:r>
          </a:p>
          <a:p>
            <a:pPr marL="3429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2"/>
                </a:solidFill>
                <a:latin typeface="Algerian" panose="020F0502020204030204" pitchFamily="82" charset="0"/>
              </a:rPr>
              <a:t>Análisis de requisitos</a:t>
            </a:r>
          </a:p>
          <a:p>
            <a:pPr marL="3429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2"/>
                </a:solidFill>
                <a:latin typeface="Algerian" panose="020F0502020204030204" pitchFamily="82" charset="0"/>
              </a:rPr>
              <a:t>Diseño</a:t>
            </a:r>
          </a:p>
          <a:p>
            <a:pPr marL="342900"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3600" dirty="0">
                <a:solidFill>
                  <a:schemeClr val="tx2"/>
                </a:solidFill>
                <a:latin typeface="Algerian" panose="020F0502020204030204" pitchFamily="82" charset="0"/>
              </a:rPr>
              <a:t> Desarrollo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3600" dirty="0">
                <a:solidFill>
                  <a:schemeClr val="tx2"/>
                </a:solidFill>
                <a:latin typeface="Algerian" panose="020F0502020204030204" pitchFamily="82" charset="0"/>
              </a:rPr>
              <a:t> . Pruebas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3600" dirty="0">
                <a:solidFill>
                  <a:schemeClr val="tx2"/>
                </a:solidFill>
                <a:latin typeface="Algerian" panose="020F0502020204030204" pitchFamily="82" charset="0"/>
              </a:rPr>
              <a:t>  .Implementación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US" sz="3600" dirty="0">
                <a:solidFill>
                  <a:schemeClr val="tx2"/>
                </a:solidFill>
                <a:latin typeface="Algerian" panose="020F0502020204030204" pitchFamily="82" charset="0"/>
              </a:rPr>
              <a:t> . Mantenimiento</a:t>
            </a:r>
          </a:p>
        </p:txBody>
      </p:sp>
    </p:spTree>
    <p:extLst>
      <p:ext uri="{BB962C8B-B14F-4D97-AF65-F5344CB8AC3E}">
        <p14:creationId xmlns:p14="http://schemas.microsoft.com/office/powerpoint/2010/main" val="20435510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0DC9A724-3055-8C09-95DF-A258E0D33279}"/>
              </a:ext>
            </a:extLst>
          </p:cNvPr>
          <p:cNvSpPr txBox="1"/>
          <p:nvPr/>
        </p:nvSpPr>
        <p:spPr>
          <a:xfrm>
            <a:off x="4486706" y="1399805"/>
            <a:ext cx="7495302" cy="4706462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/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4800" b="1" dirty="0">
                <a:solidFill>
                  <a:srgbClr val="002060"/>
                </a:solidFill>
                <a:latin typeface="Amasis MT Pro Black" panose="02040A04050005020304" pitchFamily="18" charset="0"/>
              </a:rPr>
              <a:t>Características: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b="1" dirty="0"/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5400" b="1" dirty="0">
                <a:solidFill>
                  <a:srgbClr val="FF0000"/>
                </a:solidFill>
              </a:rPr>
              <a:t>Todo se planifica desde el inicio. 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5400" b="1" dirty="0">
                <a:solidFill>
                  <a:srgbClr val="FF0000"/>
                </a:solidFill>
              </a:rPr>
              <a:t>No se regresa fácilmente a fases anteriores.</a:t>
            </a:r>
          </a:p>
          <a:p>
            <a:pPr indent="-228600">
              <a:lnSpc>
                <a:spcPct val="11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5400" b="1" dirty="0">
                <a:solidFill>
                  <a:srgbClr val="FF0000"/>
                </a:solidFill>
              </a:rPr>
              <a:t>Es ordenada y estructurada</a:t>
            </a:r>
            <a:r>
              <a:rPr lang="en-US" sz="5400" b="1" dirty="0">
                <a:solidFill>
                  <a:schemeClr val="bg1">
                    <a:lumMod val="95000"/>
                    <a:lumOff val="5000"/>
                  </a:schemeClr>
                </a:solidFill>
              </a:rPr>
              <a:t>.</a:t>
            </a:r>
          </a:p>
        </p:txBody>
      </p:sp>
      <p:pic>
        <p:nvPicPr>
          <p:cNvPr id="19" name="Picture 4" descr="Figuras de casas en diferentes posiciones y tamaños">
            <a:extLst>
              <a:ext uri="{FF2B5EF4-FFF2-40B4-BE49-F238E27FC236}">
                <a16:creationId xmlns:a16="http://schemas.microsoft.com/office/drawing/2014/main" id="{D9EA3AEA-A978-382D-7ABA-81FEDF83DE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629" r="42123"/>
          <a:stretch>
            <a:fillRect/>
          </a:stretch>
        </p:blipFill>
        <p:spPr>
          <a:xfrm>
            <a:off x="20" y="10"/>
            <a:ext cx="4053550" cy="6857989"/>
          </a:xfrm>
          <a:custGeom>
            <a:avLst/>
            <a:gdLst/>
            <a:ahLst/>
            <a:cxnLst/>
            <a:rect l="l" t="t" r="r" b="b"/>
            <a:pathLst>
              <a:path w="4053570" h="6857999">
                <a:moveTo>
                  <a:pt x="0" y="0"/>
                </a:moveTo>
                <a:lnTo>
                  <a:pt x="4022851" y="0"/>
                </a:lnTo>
                <a:lnTo>
                  <a:pt x="4023684" y="7069"/>
                </a:lnTo>
                <a:cubicBezTo>
                  <a:pt x="4038634" y="90834"/>
                  <a:pt x="4036100" y="175741"/>
                  <a:pt x="4040154" y="260014"/>
                </a:cubicBezTo>
                <a:cubicBezTo>
                  <a:pt x="4044969" y="363071"/>
                  <a:pt x="4038888" y="466508"/>
                  <a:pt x="4036607" y="569818"/>
                </a:cubicBezTo>
                <a:cubicBezTo>
                  <a:pt x="4034833" y="657771"/>
                  <a:pt x="4026091" y="745598"/>
                  <a:pt x="4028752" y="833678"/>
                </a:cubicBezTo>
                <a:cubicBezTo>
                  <a:pt x="4028942" y="836724"/>
                  <a:pt x="4028942" y="839770"/>
                  <a:pt x="4028752" y="842816"/>
                </a:cubicBezTo>
                <a:cubicBezTo>
                  <a:pt x="4020643" y="939653"/>
                  <a:pt x="4020643" y="1036998"/>
                  <a:pt x="4028752" y="1133836"/>
                </a:cubicBezTo>
                <a:cubicBezTo>
                  <a:pt x="4031324" y="1174144"/>
                  <a:pt x="4030602" y="1214593"/>
                  <a:pt x="4026598" y="1254787"/>
                </a:cubicBezTo>
                <a:cubicBezTo>
                  <a:pt x="4022797" y="1305935"/>
                  <a:pt x="4010634" y="1357844"/>
                  <a:pt x="4019376" y="1408610"/>
                </a:cubicBezTo>
                <a:cubicBezTo>
                  <a:pt x="4025065" y="1450430"/>
                  <a:pt x="4028194" y="1492566"/>
                  <a:pt x="4028752" y="1534766"/>
                </a:cubicBezTo>
                <a:cubicBezTo>
                  <a:pt x="4033186" y="1629192"/>
                  <a:pt x="4029005" y="1724125"/>
                  <a:pt x="4027358" y="1818805"/>
                </a:cubicBezTo>
                <a:cubicBezTo>
                  <a:pt x="4025584" y="1929096"/>
                  <a:pt x="4028372" y="2039387"/>
                  <a:pt x="4019503" y="2149804"/>
                </a:cubicBezTo>
                <a:cubicBezTo>
                  <a:pt x="4014625" y="2239001"/>
                  <a:pt x="4014625" y="2328401"/>
                  <a:pt x="4019503" y="2417598"/>
                </a:cubicBezTo>
                <a:cubicBezTo>
                  <a:pt x="4021910" y="2499333"/>
                  <a:pt x="4034200" y="2580306"/>
                  <a:pt x="4032173" y="2662929"/>
                </a:cubicBezTo>
                <a:cubicBezTo>
                  <a:pt x="4029765" y="2759258"/>
                  <a:pt x="4018363" y="2855334"/>
                  <a:pt x="4021910" y="2951918"/>
                </a:cubicBezTo>
                <a:cubicBezTo>
                  <a:pt x="4023557" y="2997989"/>
                  <a:pt x="4023684" y="3044060"/>
                  <a:pt x="4024571" y="3090130"/>
                </a:cubicBezTo>
                <a:cubicBezTo>
                  <a:pt x="4025711" y="3145593"/>
                  <a:pt x="4035720" y="3200928"/>
                  <a:pt x="4030145" y="3256264"/>
                </a:cubicBezTo>
                <a:cubicBezTo>
                  <a:pt x="4020897" y="3348533"/>
                  <a:pt x="3996951" y="3439278"/>
                  <a:pt x="4011901" y="3533831"/>
                </a:cubicBezTo>
                <a:cubicBezTo>
                  <a:pt x="4020136" y="3585867"/>
                  <a:pt x="4029385" y="3638030"/>
                  <a:pt x="4034200" y="3690573"/>
                </a:cubicBezTo>
                <a:cubicBezTo>
                  <a:pt x="4038381" y="3737532"/>
                  <a:pt x="4048896" y="3785253"/>
                  <a:pt x="4040914" y="3831958"/>
                </a:cubicBezTo>
                <a:cubicBezTo>
                  <a:pt x="4034073" y="3871937"/>
                  <a:pt x="4037620" y="3911916"/>
                  <a:pt x="4032299" y="3951895"/>
                </a:cubicBezTo>
                <a:cubicBezTo>
                  <a:pt x="4025331" y="4004311"/>
                  <a:pt x="4021657" y="4057616"/>
                  <a:pt x="4016336" y="4110414"/>
                </a:cubicBezTo>
                <a:cubicBezTo>
                  <a:pt x="4011648" y="4158261"/>
                  <a:pt x="4007974" y="4205982"/>
                  <a:pt x="4020643" y="4250911"/>
                </a:cubicBezTo>
                <a:cubicBezTo>
                  <a:pt x="4051684" y="4363994"/>
                  <a:pt x="4034707" y="4476442"/>
                  <a:pt x="4023051" y="4588763"/>
                </a:cubicBezTo>
                <a:cubicBezTo>
                  <a:pt x="4017349" y="4643337"/>
                  <a:pt x="4008987" y="4701084"/>
                  <a:pt x="4021657" y="4751090"/>
                </a:cubicBezTo>
                <a:cubicBezTo>
                  <a:pt x="4044969" y="4839804"/>
                  <a:pt x="4026725" y="4924077"/>
                  <a:pt x="4016589" y="5009238"/>
                </a:cubicBezTo>
                <a:cubicBezTo>
                  <a:pt x="4004363" y="5092546"/>
                  <a:pt x="4006124" y="5177301"/>
                  <a:pt x="4021784" y="5260026"/>
                </a:cubicBezTo>
                <a:cubicBezTo>
                  <a:pt x="4034200" y="5318407"/>
                  <a:pt x="4034200" y="5377804"/>
                  <a:pt x="4035720" y="5436566"/>
                </a:cubicBezTo>
                <a:cubicBezTo>
                  <a:pt x="4036607" y="5473373"/>
                  <a:pt x="4023051" y="5510813"/>
                  <a:pt x="4014055" y="5547492"/>
                </a:cubicBezTo>
                <a:cubicBezTo>
                  <a:pt x="3997965" y="5613743"/>
                  <a:pt x="3992137" y="5681008"/>
                  <a:pt x="4014055" y="5745609"/>
                </a:cubicBezTo>
                <a:cubicBezTo>
                  <a:pt x="4044589" y="5835085"/>
                  <a:pt x="4062073" y="5924561"/>
                  <a:pt x="4049403" y="6019242"/>
                </a:cubicBezTo>
                <a:cubicBezTo>
                  <a:pt x="4042055" y="6077623"/>
                  <a:pt x="4040408" y="6137274"/>
                  <a:pt x="4029385" y="6194894"/>
                </a:cubicBezTo>
                <a:cubicBezTo>
                  <a:pt x="4011268" y="6290463"/>
                  <a:pt x="4017729" y="6385396"/>
                  <a:pt x="4032173" y="6479568"/>
                </a:cubicBezTo>
                <a:cubicBezTo>
                  <a:pt x="4042321" y="6558257"/>
                  <a:pt x="4043423" y="6637846"/>
                  <a:pt x="4035467" y="6716775"/>
                </a:cubicBezTo>
                <a:lnTo>
                  <a:pt x="4025707" y="6857999"/>
                </a:lnTo>
                <a:lnTo>
                  <a:pt x="0" y="6857999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9623540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5D7C2D6-B86B-9161-7496-F4243E797152}"/>
              </a:ext>
            </a:extLst>
          </p:cNvPr>
          <p:cNvSpPr txBox="1"/>
          <p:nvPr/>
        </p:nvSpPr>
        <p:spPr>
          <a:xfrm>
            <a:off x="831387" y="927951"/>
            <a:ext cx="3571810" cy="357351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dirty="0">
                <a:solidFill>
                  <a:schemeClr val="accent4"/>
                </a:solidFill>
                <a:latin typeface="Amasis MT Pro Black" panose="02040A04050005020304" pitchFamily="18" charset="0"/>
                <a:ea typeface="+mj-ea"/>
                <a:cs typeface="+mj-cs"/>
              </a:rPr>
              <a:t>Ventajas</a:t>
            </a:r>
            <a:r>
              <a:rPr lang="en-US" sz="3600" b="1" dirty="0">
                <a:solidFill>
                  <a:schemeClr val="accent4"/>
                </a:solidFill>
                <a:latin typeface="+mj-lt"/>
                <a:ea typeface="+mj-ea"/>
                <a:cs typeface="+mj-cs"/>
              </a:rPr>
              <a:t>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- </a:t>
            </a:r>
            <a:r>
              <a:rPr lang="en-US" sz="2800" b="1" dirty="0">
                <a:solidFill>
                  <a:srgbClr val="FF0000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Fácil de entender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solidFill>
                  <a:srgbClr val="FF0000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- Buena documentación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solidFill>
                  <a:srgbClr val="FF0000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-Ideal cuando los requisitos no cambian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3677844-AB9C-E7AF-1F4A-AD362AAB6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386859"/>
            <a:ext cx="7214616" cy="405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585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6AFE6A8-5DA2-F992-02BC-559D8DD93A46}"/>
              </a:ext>
            </a:extLst>
          </p:cNvPr>
          <p:cNvSpPr txBox="1"/>
          <p:nvPr/>
        </p:nvSpPr>
        <p:spPr>
          <a:xfrm>
            <a:off x="7998581" y="149903"/>
            <a:ext cx="3562483" cy="40628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i="1" dirty="0">
                <a:solidFill>
                  <a:srgbClr val="FF0000"/>
                </a:solidFill>
                <a:latin typeface="Aptos Serif" panose="02020604070405020304" pitchFamily="18" charset="0"/>
                <a:ea typeface="+mj-ea"/>
                <a:cs typeface="Aptos Serif" panose="02020604070405020304" pitchFamily="18" charset="0"/>
              </a:rPr>
              <a:t>Desventajas: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latin typeface="+mj-lt"/>
                <a:ea typeface="+mj-ea"/>
                <a:cs typeface="+mj-cs"/>
              </a:rPr>
              <a:t> -</a:t>
            </a:r>
            <a:r>
              <a:rPr lang="en-US" sz="3200" b="1" dirty="0">
                <a:latin typeface="Aptos Serif" panose="02020604070405020304" pitchFamily="18" charset="0"/>
                <a:ea typeface="+mj-ea"/>
                <a:cs typeface="Aptos Serif" panose="02020604070405020304" pitchFamily="18" charset="0"/>
              </a:rPr>
              <a:t>Poco flexible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b="1" dirty="0">
                <a:latin typeface="Aptos Serif" panose="02020604070405020304" pitchFamily="18" charset="0"/>
                <a:ea typeface="+mj-ea"/>
                <a:cs typeface="Aptos Serif" panose="02020604070405020304" pitchFamily="18" charset="0"/>
              </a:rPr>
              <a:t> -Si hay errores, es difícil corregirlos después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5D1E4D6-C62F-C166-73B1-D34E55EBBB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9705" y="965037"/>
            <a:ext cx="6415790" cy="446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980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F83D62-C3F6-AF24-D9B9-B6ECCAD92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4656" y="204767"/>
            <a:ext cx="4026408" cy="4007941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l">
              <a:lnSpc>
                <a:spcPct val="90000"/>
              </a:lnSpc>
            </a:pPr>
            <a:r>
              <a:rPr lang="en-US" sz="2800" dirty="0"/>
              <a:t> </a:t>
            </a:r>
            <a:r>
              <a:rPr lang="en-US" sz="40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Metodología Ágil</a:t>
            </a:r>
            <a:br>
              <a:rPr lang="en-US" sz="3600" dirty="0"/>
            </a:br>
            <a:r>
              <a:rPr lang="en-US" sz="3600" dirty="0">
                <a:latin typeface="Abadi" panose="020F0502020204030204" pitchFamily="34" charset="0"/>
              </a:rPr>
              <a:t>Es un modelo flexible e iterativo.El proyecto se divide en pequeñas partes llamadas iteraciones o sprints.</a:t>
            </a:r>
            <a:endParaRPr lang="en-US" sz="2800" dirty="0">
              <a:latin typeface="Abadi" panose="020F050202020403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7F5671B-9739-5AEF-3BF1-22FC112D7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10412"/>
            <a:ext cx="7214616" cy="480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673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FB0BC7B-F249-58CC-A7FD-96698E85A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6041" y="3069055"/>
            <a:ext cx="3513221" cy="2529639"/>
          </a:xfrm>
          <a:prstGeom prst="rect">
            <a:avLst/>
          </a:prstGeom>
        </p:spPr>
      </p:pic>
      <p:graphicFrame>
        <p:nvGraphicFramePr>
          <p:cNvPr id="5" name="CuadroTexto 2">
            <a:extLst>
              <a:ext uri="{FF2B5EF4-FFF2-40B4-BE49-F238E27FC236}">
                <a16:creationId xmlns:a16="http://schemas.microsoft.com/office/drawing/2014/main" id="{EE134745-20D0-C024-9255-B68D708EB7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1676628"/>
              </p:ext>
            </p:extLst>
          </p:nvPr>
        </p:nvGraphicFramePr>
        <p:xfrm>
          <a:off x="824262" y="1439232"/>
          <a:ext cx="6093500" cy="10472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CuadroTexto 5">
            <a:extLst>
              <a:ext uri="{FF2B5EF4-FFF2-40B4-BE49-F238E27FC236}">
                <a16:creationId xmlns:a16="http://schemas.microsoft.com/office/drawing/2014/main" id="{E067531E-BB8F-A445-0BDE-3D1DEFCC4195}"/>
              </a:ext>
            </a:extLst>
          </p:cNvPr>
          <p:cNvSpPr txBox="1"/>
          <p:nvPr/>
        </p:nvSpPr>
        <p:spPr>
          <a:xfrm>
            <a:off x="1042738" y="3210489"/>
            <a:ext cx="502117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Se trabaja en equipo.Se hacen entregas pequeñas y frecuentes.</a:t>
            </a:r>
          </a:p>
          <a:p>
            <a:r>
              <a:rPr lang="es-ES" sz="2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Permite cambios durante el proyecto</a:t>
            </a:r>
            <a:endParaRPr lang="es-SV" sz="2800" b="1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12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07A821C-0E05-AC32-3360-E2184705FF7F}"/>
              </a:ext>
            </a:extLst>
          </p:cNvPr>
          <p:cNvSpPr txBox="1"/>
          <p:nvPr/>
        </p:nvSpPr>
        <p:spPr>
          <a:xfrm>
            <a:off x="882316" y="1628092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dirty="0">
                <a:solidFill>
                  <a:srgbClr val="FF0000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Ventajas:</a:t>
            </a:r>
          </a:p>
          <a:p>
            <a:r>
              <a:rPr lang="es-ES" sz="3600" dirty="0">
                <a:latin typeface="Aharoni" panose="02010803020104030203" pitchFamily="2" charset="-79"/>
                <a:cs typeface="Aharoni" panose="02010803020104030203" pitchFamily="2" charset="-79"/>
              </a:rPr>
              <a:t>-Flexible</a:t>
            </a:r>
          </a:p>
          <a:p>
            <a:r>
              <a:rPr lang="es-ES" sz="3600" dirty="0">
                <a:latin typeface="Aharoni" panose="02010803020104030203" pitchFamily="2" charset="-79"/>
                <a:cs typeface="Aharoni" panose="02010803020104030203" pitchFamily="2" charset="-79"/>
              </a:rPr>
              <a:t>- Entregas rápidas</a:t>
            </a:r>
          </a:p>
          <a:p>
            <a:r>
              <a:rPr lang="es-ES" sz="3600" dirty="0">
                <a:latin typeface="Aharoni" panose="02010803020104030203" pitchFamily="2" charset="-79"/>
                <a:cs typeface="Aharoni" panose="02010803020104030203" pitchFamily="2" charset="-79"/>
              </a:rPr>
              <a:t>-Mejor adaptación a cambios</a:t>
            </a:r>
            <a:endParaRPr lang="es-SV" sz="36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95A8809-5E2F-7204-35D0-95C555A85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4968" y="1628092"/>
            <a:ext cx="4331369" cy="4082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08499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1229C4F-6B52-3A34-C29C-70D3F4017519}"/>
              </a:ext>
            </a:extLst>
          </p:cNvPr>
          <p:cNvSpPr txBox="1"/>
          <p:nvPr/>
        </p:nvSpPr>
        <p:spPr>
          <a:xfrm>
            <a:off x="721896" y="1772470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36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Desventajas:</a:t>
            </a:r>
          </a:p>
          <a:p>
            <a:r>
              <a:rPr lang="es-ES" sz="36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- </a:t>
            </a:r>
            <a:r>
              <a:rPr lang="es-ES" sz="3600" dirty="0">
                <a:latin typeface="Arial Rounded MT Bold" panose="020F050202020403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Requiere buena comunicación</a:t>
            </a:r>
          </a:p>
          <a:p>
            <a:r>
              <a:rPr lang="es-ES" sz="3600" dirty="0">
                <a:latin typeface="Arial Rounded MT Bold" panose="020F0502020204030204" pitchFamily="34" charset="0"/>
                <a:ea typeface="ADLaM Display" panose="02010000000000000000" pitchFamily="2" charset="0"/>
                <a:cs typeface="ADLaM Display" panose="02010000000000000000" pitchFamily="2" charset="0"/>
              </a:rPr>
              <a:t>- Puede ser difícil si no hay organización</a:t>
            </a:r>
            <a:endParaRPr lang="es-SV" sz="3600" dirty="0">
              <a:latin typeface="Arial Rounded MT Bold" panose="020F0502020204030204" pitchFamily="34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E2C2B49-047A-B2C6-AF05-76EB0A6323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3326" y="1331494"/>
            <a:ext cx="4283242" cy="4555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2946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D210D2DB-65E5-4219-B8E5-CB7325958A5B}"/>
              </a:ext>
            </a:extLst>
          </p:cNvPr>
          <p:cNvSpPr txBox="1"/>
          <p:nvPr/>
        </p:nvSpPr>
        <p:spPr>
          <a:xfrm>
            <a:off x="545431" y="658920"/>
            <a:ext cx="609600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800" b="1" dirty="0">
                <a:solidFill>
                  <a:srgbClr val="FF0000"/>
                </a:solidFill>
                <a:latin typeface="Aptos Slab Light" panose="020F0502020204030204" pitchFamily="34" charset="0"/>
              </a:rPr>
              <a:t>Diferencia principal</a:t>
            </a:r>
          </a:p>
          <a:p>
            <a:r>
              <a:rPr lang="es-ES" sz="3600" dirty="0">
                <a:latin typeface="Aptos Slab Light" panose="020F0502020204030204" pitchFamily="34" charset="0"/>
              </a:rPr>
              <a:t>Cascada Todo se hace paso a paso y sin cambios</a:t>
            </a:r>
          </a:p>
          <a:p>
            <a:endParaRPr lang="es-ES" sz="3600" dirty="0">
              <a:latin typeface="Aptos Slab Light" panose="020F0502020204030204" pitchFamily="34" charset="0"/>
            </a:endParaRPr>
          </a:p>
          <a:p>
            <a:r>
              <a:rPr lang="es-ES" sz="3600" dirty="0">
                <a:latin typeface="Aptos Slab Light" panose="020F0502020204030204" pitchFamily="34" charset="0"/>
              </a:rPr>
              <a:t>.Ágil Se trabaja por partes y se puede mejorar constantemente.</a:t>
            </a:r>
            <a:endParaRPr lang="es-SV" sz="3600" dirty="0">
              <a:latin typeface="Aptos Slab Light" panose="020F0502020204030204" pitchFamily="34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ADF336F-C2E1-DC72-DB72-8EF01234F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3116" y="329460"/>
            <a:ext cx="4716379" cy="619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9447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02AF95-9416-92F7-2E7C-304E3F22C3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4135" y="2156348"/>
            <a:ext cx="3971495" cy="186674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1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Scrum Básico </a:t>
            </a:r>
            <a:br>
              <a:rPr lang="en-US" sz="4100" dirty="0">
                <a:solidFill>
                  <a:srgbClr val="FF0000"/>
                </a:solidFill>
                <a:latin typeface="Arial Rounded MT Bold" panose="020F0704030504030204" pitchFamily="34" charset="0"/>
              </a:rPr>
            </a:br>
            <a:r>
              <a:rPr lang="en-US" sz="4100" dirty="0">
                <a:solidFill>
                  <a:srgbClr val="FF0000"/>
                </a:solidFill>
                <a:latin typeface="Arial Rounded MT Bold" panose="020F0704030504030204" pitchFamily="34" charset="0"/>
              </a:rPr>
              <a:t>es un marco de trabajo ágil</a:t>
            </a:r>
            <a:r>
              <a:rPr lang="en-US" sz="4100" dirty="0">
                <a:latin typeface="Arial Rounded MT Bold" panose="020F0704030504030204" pitchFamily="34" charset="0"/>
              </a:rPr>
              <a:t>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D2ABD84-A477-5E04-371E-FE7702686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1849752"/>
            <a:ext cx="5448327" cy="3061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7589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9BBC5D7-B5C4-1FCB-9D91-2A3F2CDABFF5}"/>
              </a:ext>
            </a:extLst>
          </p:cNvPr>
          <p:cNvSpPr txBox="1"/>
          <p:nvPr/>
        </p:nvSpPr>
        <p:spPr>
          <a:xfrm>
            <a:off x="1026695" y="896034"/>
            <a:ext cx="60960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4000" dirty="0">
                <a:solidFill>
                  <a:srgbClr val="FF0000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Elementos principales: </a:t>
            </a:r>
            <a:r>
              <a:rPr lang="es-E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Roles:</a:t>
            </a:r>
          </a:p>
          <a:p>
            <a:r>
              <a:rPr lang="es-ES" sz="28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Product Owner: Representa al cliente. Scrum Equipo de Desarrollo: Programa y crea el producto.</a:t>
            </a:r>
            <a:endParaRPr lang="es-SV" sz="2800" dirty="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F915BEB-11DB-A5AA-FE9F-07F32469A8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2838" y="799780"/>
            <a:ext cx="3702467" cy="27495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6350" stA="50000" endA="300" endPos="55500" dist="50800" dir="5400000" sy="-100000" algn="bl" rotWithShape="0"/>
          </a:effec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77BC2404-67B9-28FC-3B0D-BB447B46D282}"/>
              </a:ext>
            </a:extLst>
          </p:cNvPr>
          <p:cNvSpPr txBox="1"/>
          <p:nvPr/>
        </p:nvSpPr>
        <p:spPr>
          <a:xfrm>
            <a:off x="1026695" y="3767388"/>
            <a:ext cx="37024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400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Master: Guía al equipo.</a:t>
            </a:r>
          </a:p>
        </p:txBody>
      </p:sp>
    </p:spTree>
    <p:extLst>
      <p:ext uri="{BB962C8B-B14F-4D97-AF65-F5344CB8AC3E}">
        <p14:creationId xmlns:p14="http://schemas.microsoft.com/office/powerpoint/2010/main" val="34225518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CuadroTexto 2">
            <a:extLst>
              <a:ext uri="{FF2B5EF4-FFF2-40B4-BE49-F238E27FC236}">
                <a16:creationId xmlns:a16="http://schemas.microsoft.com/office/drawing/2014/main" id="{7D0D7087-6BA5-2F44-DFF9-13DDC33F50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6668552"/>
              </p:ext>
            </p:extLst>
          </p:nvPr>
        </p:nvGraphicFramePr>
        <p:xfrm>
          <a:off x="838200" y="1816768"/>
          <a:ext cx="10515600" cy="43649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3083603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157</TotalTime>
  <Words>281</Words>
  <Application>Microsoft Office PowerPoint</Application>
  <PresentationFormat>Panorámica</PresentationFormat>
  <Paragraphs>46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6" baseType="lpstr">
      <vt:lpstr>Abadi</vt:lpstr>
      <vt:lpstr>ADLaM Display</vt:lpstr>
      <vt:lpstr>Aharoni</vt:lpstr>
      <vt:lpstr>Algerian</vt:lpstr>
      <vt:lpstr>Amasis MT Pro Black</vt:lpstr>
      <vt:lpstr>Aptos Serif</vt:lpstr>
      <vt:lpstr>Aptos Slab Light</vt:lpstr>
      <vt:lpstr>Arial</vt:lpstr>
      <vt:lpstr>Arial Rounded MT Bold</vt:lpstr>
      <vt:lpstr>Century Gothic</vt:lpstr>
      <vt:lpstr>Wingdings 3</vt:lpstr>
      <vt:lpstr>Ion</vt:lpstr>
      <vt:lpstr>a) Tipos de metodología: cascada vs ágil    Nombre: Naun Emanuel Caballero  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 Metodología Ágil Es un modelo flexible e iterativo.El proyecto se divide en pequeñas partes llamadas iteraciones o sprints.</vt:lpstr>
      <vt:lpstr>Presentación de PowerPoint</vt:lpstr>
      <vt:lpstr>Presentación de PowerPoint</vt:lpstr>
      <vt:lpstr>Presentación de PowerPoint</vt:lpstr>
      <vt:lpstr>Presentación de PowerPoint</vt:lpstr>
      <vt:lpstr>Scrum Básico  es un marco de trabajo ágil.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Yansi Hernandez</dc:creator>
  <cp:lastModifiedBy>Naun Caballero</cp:lastModifiedBy>
  <cp:revision>4</cp:revision>
  <dcterms:created xsi:type="dcterms:W3CDTF">2026-03-01T16:58:41Z</dcterms:created>
  <dcterms:modified xsi:type="dcterms:W3CDTF">2026-03-10T19:48:07Z</dcterms:modified>
</cp:coreProperties>
</file>